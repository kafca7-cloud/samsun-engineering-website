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69" r:id="rId3"/>
    <p:sldId id="272" r:id="rId4"/>
    <p:sldId id="270" r:id="rId5"/>
    <p:sldId id="271" r:id="rId6"/>
    <p:sldId id="273" r:id="rId7"/>
    <p:sldId id="274" r:id="rId8"/>
    <p:sldId id="275" r:id="rId9"/>
    <p:sldId id="276" r:id="rId10"/>
    <p:sldId id="277" r:id="rId11"/>
  </p:sldIdLst>
  <p:sldSz cx="18288000" cy="10287000"/>
  <p:notesSz cx="6735763" cy="9866313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맑은 고딕" panose="020B0503020000020004" pitchFamily="50" charset="-127"/>
      <p:regular r:id="rId17"/>
      <p:bold r:id="rId18"/>
    </p:embeddedFont>
    <p:embeddedFont>
      <p:font typeface="서울남산 장체 BL" panose="02020503020101020101" pitchFamily="18" charset="-127"/>
      <p:regular r:id="rId19"/>
    </p:embeddedFont>
    <p:embeddedFont>
      <p:font typeface="서울남산체 B" panose="02020503020101020101" pitchFamily="18" charset="-127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B0F0"/>
    <a:srgbClr val="FFC400"/>
    <a:srgbClr val="000000"/>
    <a:srgbClr val="D99694"/>
    <a:srgbClr val="595959"/>
    <a:srgbClr val="7030A0"/>
    <a:srgbClr val="92D05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9925" autoAdjust="0"/>
  </p:normalViewPr>
  <p:slideViewPr>
    <p:cSldViewPr>
      <p:cViewPr varScale="1">
        <p:scale>
          <a:sx n="49" d="100"/>
          <a:sy n="49" d="100"/>
        </p:scale>
        <p:origin x="7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softEdge rad="25400"/>
            </a:effectLst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1915</c:v>
                </c:pt>
                <c:pt idx="1">
                  <c:v>1927</c:v>
                </c:pt>
                <c:pt idx="2">
                  <c:v>2365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F7-46C6-9F2A-3E753885D1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7"/>
        <c:axId val="657139471"/>
        <c:axId val="657138223"/>
      </c:barChart>
      <c:catAx>
        <c:axId val="657139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  <a:cs typeface="+mn-cs"/>
              </a:defRPr>
            </a:pPr>
            <a:endParaRPr lang="ko-KR"/>
          </a:p>
        </c:txPr>
        <c:crossAx val="657138223"/>
        <c:crosses val="autoZero"/>
        <c:auto val="1"/>
        <c:lblAlgn val="ctr"/>
        <c:lblOffset val="100"/>
        <c:noMultiLvlLbl val="0"/>
      </c:catAx>
      <c:valAx>
        <c:axId val="657138223"/>
        <c:scaling>
          <c:orientation val="minMax"/>
        </c:scaling>
        <c:delete val="0"/>
        <c:axPos val="l"/>
        <c:majorGridlines>
          <c:spPr>
            <a:ln w="2540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  <a:cs typeface="+mn-cs"/>
              </a:defRPr>
            </a:pPr>
            <a:endParaRPr lang="ko-KR"/>
          </a:p>
        </c:txPr>
        <c:crossAx val="657139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서울남산체 B" panose="02020503020101020101" pitchFamily="18" charset="-127"/>
              <a:ea typeface="서울남산체 B" panose="02020503020101020101" pitchFamily="18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C1478-87B6-4DCD-881F-61C4D39B95D1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ABACA-9BA0-4CDD-B834-D648F5E04B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352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ABACA-9BA0-4CDD-B834-D648F5E04BE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371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ABACA-9BA0-4CDD-B834-D648F5E04BE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132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ABACA-9BA0-4CDD-B834-D648F5E04BE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414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2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1600200"/>
            <a:ext cx="40386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4"/>
            <a:ext cx="404177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2" y="273050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399" y="274639"/>
            <a:ext cx="205740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2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11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5" indent="-342905" algn="l" defTabSz="914411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0" indent="-285753" algn="l" defTabSz="914411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gif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29.jpeg"/><Relationship Id="rId26" Type="http://schemas.openxmlformats.org/officeDocument/2006/relationships/image" Target="../media/image37.jpeg"/><Relationship Id="rId3" Type="http://schemas.openxmlformats.org/officeDocument/2006/relationships/image" Target="../media/image14.png"/><Relationship Id="rId21" Type="http://schemas.openxmlformats.org/officeDocument/2006/relationships/image" Target="../media/image32.jpg"/><Relationship Id="rId34" Type="http://schemas.openxmlformats.org/officeDocument/2006/relationships/image" Target="../media/image45.jpg"/><Relationship Id="rId7" Type="http://schemas.openxmlformats.org/officeDocument/2006/relationships/image" Target="../media/image18.png"/><Relationship Id="rId12" Type="http://schemas.openxmlformats.org/officeDocument/2006/relationships/image" Target="../media/image23.jpeg"/><Relationship Id="rId17" Type="http://schemas.openxmlformats.org/officeDocument/2006/relationships/image" Target="../media/image28.jpeg"/><Relationship Id="rId25" Type="http://schemas.openxmlformats.org/officeDocument/2006/relationships/image" Target="../media/image36.jpeg"/><Relationship Id="rId33" Type="http://schemas.openxmlformats.org/officeDocument/2006/relationships/image" Target="../media/image44.jp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7.jpeg"/><Relationship Id="rId20" Type="http://schemas.openxmlformats.org/officeDocument/2006/relationships/image" Target="../media/image31.jpeg"/><Relationship Id="rId29" Type="http://schemas.openxmlformats.org/officeDocument/2006/relationships/image" Target="../media/image4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11" Type="http://schemas.openxmlformats.org/officeDocument/2006/relationships/image" Target="../media/image22.jpeg"/><Relationship Id="rId24" Type="http://schemas.openxmlformats.org/officeDocument/2006/relationships/image" Target="../media/image35.jpg"/><Relationship Id="rId32" Type="http://schemas.openxmlformats.org/officeDocument/2006/relationships/image" Target="../media/image43.jpg"/><Relationship Id="rId5" Type="http://schemas.openxmlformats.org/officeDocument/2006/relationships/image" Target="../media/image16.jpeg"/><Relationship Id="rId15" Type="http://schemas.openxmlformats.org/officeDocument/2006/relationships/image" Target="../media/image26.jpeg"/><Relationship Id="rId23" Type="http://schemas.openxmlformats.org/officeDocument/2006/relationships/image" Target="../media/image34.jpg"/><Relationship Id="rId28" Type="http://schemas.openxmlformats.org/officeDocument/2006/relationships/image" Target="../media/image39.jpeg"/><Relationship Id="rId10" Type="http://schemas.openxmlformats.org/officeDocument/2006/relationships/image" Target="../media/image21.jpeg"/><Relationship Id="rId19" Type="http://schemas.openxmlformats.org/officeDocument/2006/relationships/image" Target="../media/image30.jpeg"/><Relationship Id="rId31" Type="http://schemas.openxmlformats.org/officeDocument/2006/relationships/image" Target="../media/image42.jpeg"/><Relationship Id="rId4" Type="http://schemas.openxmlformats.org/officeDocument/2006/relationships/image" Target="../media/image15.jpeg"/><Relationship Id="rId9" Type="http://schemas.openxmlformats.org/officeDocument/2006/relationships/image" Target="../media/image20.jpeg"/><Relationship Id="rId14" Type="http://schemas.openxmlformats.org/officeDocument/2006/relationships/image" Target="../media/image25.jpeg"/><Relationship Id="rId22" Type="http://schemas.openxmlformats.org/officeDocument/2006/relationships/image" Target="../media/image33.jpeg"/><Relationship Id="rId27" Type="http://schemas.openxmlformats.org/officeDocument/2006/relationships/image" Target="../media/image38.jpeg"/><Relationship Id="rId30" Type="http://schemas.openxmlformats.org/officeDocument/2006/relationships/image" Target="../media/image41.png"/><Relationship Id="rId35" Type="http://schemas.openxmlformats.org/officeDocument/2006/relationships/image" Target="../media/image46.jpeg"/><Relationship Id="rId8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987800"/>
            <a:ext cx="182880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8000" dirty="0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     ㈜삼선엔지니어링 </a:t>
            </a:r>
            <a:endParaRPr lang="en-US" altLang="ko-KR" sz="8000" dirty="0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sz="8000" dirty="0" err="1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지명원</a:t>
            </a:r>
            <a:endParaRPr lang="ko-KR" altLang="en-US" sz="8000" dirty="0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20800" y="6515100"/>
            <a:ext cx="155067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25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육 </a:t>
            </a:r>
            <a:r>
              <a:rPr lang="en-US" altLang="ko-KR" sz="2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 </a:t>
            </a:r>
            <a:r>
              <a:rPr lang="ko-KR" altLang="en-US" sz="25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해상 발전기</a:t>
            </a:r>
            <a:r>
              <a:rPr lang="en-US" sz="25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sz="25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및</a:t>
            </a:r>
            <a:r>
              <a:rPr lang="en-US" sz="25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sz="25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엔진</a:t>
            </a:r>
            <a:r>
              <a:rPr lang="en-US" sz="25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sz="25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전문</a:t>
            </a:r>
            <a:r>
              <a:rPr lang="en-US" sz="25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sz="25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대리점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0CC0521-161E-4C41-81C3-A53373198A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3365137"/>
            <a:ext cx="2901008" cy="145215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30E411-EC33-4BB7-88F2-09FE5C8F318B}"/>
              </a:ext>
            </a:extLst>
          </p:cNvPr>
          <p:cNvSpPr/>
          <p:nvPr/>
        </p:nvSpPr>
        <p:spPr>
          <a:xfrm>
            <a:off x="0" y="9791700"/>
            <a:ext cx="9157254" cy="4953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01A22A-1A17-433C-8324-9A3F10FD10CE}"/>
              </a:ext>
            </a:extLst>
          </p:cNvPr>
          <p:cNvSpPr/>
          <p:nvPr/>
        </p:nvSpPr>
        <p:spPr>
          <a:xfrm>
            <a:off x="9157254" y="9793909"/>
            <a:ext cx="9144000" cy="49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01A22A-1A17-433C-8324-9A3F10FD10CE}"/>
              </a:ext>
            </a:extLst>
          </p:cNvPr>
          <p:cNvSpPr/>
          <p:nvPr/>
        </p:nvSpPr>
        <p:spPr>
          <a:xfrm>
            <a:off x="2133600" y="0"/>
            <a:ext cx="16154400" cy="49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30E411-EC33-4BB7-88F2-09FE5C8F318B}"/>
              </a:ext>
            </a:extLst>
          </p:cNvPr>
          <p:cNvSpPr/>
          <p:nvPr/>
        </p:nvSpPr>
        <p:spPr>
          <a:xfrm>
            <a:off x="-13254" y="0"/>
            <a:ext cx="2985054" cy="4953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9C925BD-F636-431E-9035-4600284A30CD}"/>
              </a:ext>
            </a:extLst>
          </p:cNvPr>
          <p:cNvSpPr txBox="1"/>
          <p:nvPr/>
        </p:nvSpPr>
        <p:spPr>
          <a:xfrm>
            <a:off x="1054100" y="949630"/>
            <a:ext cx="9906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200" dirty="0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목차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EF3BA12C-1280-47A2-B495-18815B57377B}"/>
              </a:ext>
            </a:extLst>
          </p:cNvPr>
          <p:cNvSpPr txBox="1"/>
          <p:nvPr/>
        </p:nvSpPr>
        <p:spPr>
          <a:xfrm>
            <a:off x="2220856" y="4010050"/>
            <a:ext cx="4546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- About Us</a:t>
            </a:r>
          </a:p>
          <a:p>
            <a:pPr lvl="0" algn="l">
              <a:lnSpc>
                <a:spcPct val="116199"/>
              </a:lnSpc>
            </a:pPr>
            <a:r>
              <a:rPr 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- </a:t>
            </a:r>
            <a:r>
              <a:rPr lang="ko-KR" alt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회사</a:t>
            </a:r>
            <a:r>
              <a:rPr 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연혁</a:t>
            </a:r>
            <a:r>
              <a:rPr 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및</a:t>
            </a:r>
            <a:r>
              <a:rPr 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사업 영역</a:t>
            </a:r>
          </a:p>
          <a:p>
            <a:pPr lvl="0" algn="l">
              <a:lnSpc>
                <a:spcPct val="116199"/>
              </a:lnSpc>
            </a:pPr>
            <a:r>
              <a:rPr 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- </a:t>
            </a:r>
            <a:r>
              <a:rPr lang="ko-KR" altLang="en-US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조직 구조 및 인력 현황</a:t>
            </a:r>
            <a:endParaRPr lang="ko-KR" altLang="en-US" sz="2200" dirty="0">
              <a:solidFill>
                <a:srgbClr val="000000"/>
              </a:solidFill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C10446EE-F27F-473E-A73F-FCE89F6EC594}"/>
              </a:ext>
            </a:extLst>
          </p:cNvPr>
          <p:cNvSpPr txBox="1"/>
          <p:nvPr/>
        </p:nvSpPr>
        <p:spPr>
          <a:xfrm>
            <a:off x="2641600" y="3238500"/>
            <a:ext cx="45593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800" b="1" dirty="0">
                <a:solidFill>
                  <a:srgbClr val="000000"/>
                </a:solidFill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회사</a:t>
            </a:r>
            <a:r>
              <a:rPr lang="en-US" sz="2800" b="1" dirty="0">
                <a:solidFill>
                  <a:srgbClr val="000000"/>
                </a:solidFill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 </a:t>
            </a:r>
            <a:r>
              <a:rPr lang="ko-KR" altLang="en-US" sz="2800" b="1" dirty="0">
                <a:solidFill>
                  <a:srgbClr val="000000"/>
                </a:solidFill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소개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7E2DF4A9-7899-4E3F-8BAF-7E66B7D7DBE3}"/>
              </a:ext>
            </a:extLst>
          </p:cNvPr>
          <p:cNvSpPr txBox="1"/>
          <p:nvPr/>
        </p:nvSpPr>
        <p:spPr>
          <a:xfrm>
            <a:off x="2057400" y="3238500"/>
            <a:ext cx="5207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1" dirty="0">
                <a:solidFill>
                  <a:srgbClr val="000000"/>
                </a:solidFill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01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FA04C0D0-BA40-47A9-A23B-1B01C1C4A81E}"/>
              </a:ext>
            </a:extLst>
          </p:cNvPr>
          <p:cNvSpPr txBox="1"/>
          <p:nvPr/>
        </p:nvSpPr>
        <p:spPr>
          <a:xfrm>
            <a:off x="8229600" y="3238500"/>
            <a:ext cx="45593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800" b="1" dirty="0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실적 현황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429FC867-B730-4286-99B4-77F6C8F5685C}"/>
              </a:ext>
            </a:extLst>
          </p:cNvPr>
          <p:cNvSpPr txBox="1"/>
          <p:nvPr/>
        </p:nvSpPr>
        <p:spPr>
          <a:xfrm>
            <a:off x="7645400" y="3238500"/>
            <a:ext cx="5207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1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02</a:t>
            </a: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A9CA537D-A5C0-4A04-93B4-1E15DC1475DF}"/>
              </a:ext>
            </a:extLst>
          </p:cNvPr>
          <p:cNvSpPr txBox="1"/>
          <p:nvPr/>
        </p:nvSpPr>
        <p:spPr>
          <a:xfrm>
            <a:off x="13830300" y="3238500"/>
            <a:ext cx="45593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800" b="1" dirty="0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기술력 및 전문성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069FE10D-B21E-498E-A8E8-222B80AE2F04}"/>
              </a:ext>
            </a:extLst>
          </p:cNvPr>
          <p:cNvSpPr txBox="1"/>
          <p:nvPr/>
        </p:nvSpPr>
        <p:spPr>
          <a:xfrm>
            <a:off x="13246100" y="3238500"/>
            <a:ext cx="5207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b="1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03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B8E4AF43-A229-4CE5-B6E8-42F9815AD6F9}"/>
              </a:ext>
            </a:extLst>
          </p:cNvPr>
          <p:cNvSpPr txBox="1"/>
          <p:nvPr/>
        </p:nvSpPr>
        <p:spPr>
          <a:xfrm>
            <a:off x="2641600" y="6235700"/>
            <a:ext cx="45593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800" b="1" dirty="0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최적의 파트너</a:t>
            </a:r>
          </a:p>
        </p:txBody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34AFCC26-A4CF-49D9-BC8C-06686C242F71}"/>
              </a:ext>
            </a:extLst>
          </p:cNvPr>
          <p:cNvSpPr txBox="1"/>
          <p:nvPr/>
        </p:nvSpPr>
        <p:spPr>
          <a:xfrm>
            <a:off x="2057400" y="6235700"/>
            <a:ext cx="5207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dirty="0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04</a:t>
            </a:r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AFCDECB6-E2BB-4D95-A901-F4376C389D7C}"/>
              </a:ext>
            </a:extLst>
          </p:cNvPr>
          <p:cNvSpPr txBox="1"/>
          <p:nvPr/>
        </p:nvSpPr>
        <p:spPr>
          <a:xfrm>
            <a:off x="8229600" y="6199700"/>
            <a:ext cx="45593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800" b="1" dirty="0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주요 인증서 </a:t>
            </a:r>
          </a:p>
        </p:txBody>
      </p:sp>
      <p:sp>
        <p:nvSpPr>
          <p:cNvPr id="25" name="TextBox 19">
            <a:extLst>
              <a:ext uri="{FF2B5EF4-FFF2-40B4-BE49-F238E27FC236}">
                <a16:creationId xmlns:a16="http://schemas.microsoft.com/office/drawing/2014/main" id="{97850DB5-AA30-4218-9B7D-FD98B2CB69FC}"/>
              </a:ext>
            </a:extLst>
          </p:cNvPr>
          <p:cNvSpPr txBox="1"/>
          <p:nvPr/>
        </p:nvSpPr>
        <p:spPr>
          <a:xfrm>
            <a:off x="7645400" y="6199700"/>
            <a:ext cx="5207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800" dirty="0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283910-E9B1-41A3-B896-EEB8B2B38909}"/>
              </a:ext>
            </a:extLst>
          </p:cNvPr>
          <p:cNvSpPr/>
          <p:nvPr/>
        </p:nvSpPr>
        <p:spPr>
          <a:xfrm>
            <a:off x="1950856" y="3733800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134CE25-8216-4BF4-AA44-62D81D1606EA}"/>
              </a:ext>
            </a:extLst>
          </p:cNvPr>
          <p:cNvSpPr/>
          <p:nvPr/>
        </p:nvSpPr>
        <p:spPr>
          <a:xfrm>
            <a:off x="7552083" y="3716022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1E2EB2E-05C8-48DC-9CAD-AE3696D8DE40}"/>
              </a:ext>
            </a:extLst>
          </p:cNvPr>
          <p:cNvSpPr/>
          <p:nvPr/>
        </p:nvSpPr>
        <p:spPr>
          <a:xfrm>
            <a:off x="13145578" y="3716022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8363E47-F9D0-467C-BA89-A5BB64BA79BD}"/>
              </a:ext>
            </a:extLst>
          </p:cNvPr>
          <p:cNvSpPr/>
          <p:nvPr/>
        </p:nvSpPr>
        <p:spPr>
          <a:xfrm>
            <a:off x="1950856" y="6695000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12038C6-4A20-46EF-AC1E-1F7657274975}"/>
              </a:ext>
            </a:extLst>
          </p:cNvPr>
          <p:cNvSpPr/>
          <p:nvPr/>
        </p:nvSpPr>
        <p:spPr>
          <a:xfrm>
            <a:off x="7552083" y="6695000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072DC514-1DAA-429C-B74F-6E7BF2064038}"/>
              </a:ext>
            </a:extLst>
          </p:cNvPr>
          <p:cNvSpPr txBox="1"/>
          <p:nvPr/>
        </p:nvSpPr>
        <p:spPr>
          <a:xfrm>
            <a:off x="7819774" y="4060193"/>
            <a:ext cx="4546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altLang="ko-KR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- </a:t>
            </a:r>
            <a:r>
              <a:rPr lang="ko-KR" alt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연도별 실적 현황</a:t>
            </a:r>
          </a:p>
          <a:p>
            <a:pPr lvl="0" algn="l">
              <a:lnSpc>
                <a:spcPct val="116199"/>
              </a:lnSpc>
            </a:pPr>
            <a:r>
              <a:rPr lang="en-US" altLang="ko-KR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- </a:t>
            </a:r>
            <a:r>
              <a:rPr lang="ko-KR" alt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연도별 주요 프로젝트</a:t>
            </a:r>
          </a:p>
          <a:p>
            <a:pPr lvl="0" algn="l">
              <a:lnSpc>
                <a:spcPct val="116199"/>
              </a:lnSpc>
            </a:pPr>
            <a:endParaRPr lang="ko-KR" altLang="en-US" sz="2200" dirty="0">
              <a:solidFill>
                <a:srgbClr val="000000"/>
              </a:solidFill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35D03C07-0124-4B79-93DA-F8B23BDAF62B}"/>
              </a:ext>
            </a:extLst>
          </p:cNvPr>
          <p:cNvSpPr txBox="1"/>
          <p:nvPr/>
        </p:nvSpPr>
        <p:spPr>
          <a:xfrm>
            <a:off x="13415578" y="4060193"/>
            <a:ext cx="4546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- </a:t>
            </a:r>
            <a:r>
              <a:rPr lang="ko-KR" alt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주요 기술 인력 현황</a:t>
            </a:r>
          </a:p>
          <a:p>
            <a:pPr lvl="0" algn="l">
              <a:lnSpc>
                <a:spcPct val="116199"/>
              </a:lnSpc>
            </a:pPr>
            <a:r>
              <a:rPr 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- </a:t>
            </a:r>
            <a:r>
              <a:rPr lang="ko-KR" alt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국내외 교육센터 현황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82F83275-AB38-4FAC-A698-89A964E9BB63}"/>
              </a:ext>
            </a:extLst>
          </p:cNvPr>
          <p:cNvSpPr txBox="1"/>
          <p:nvPr/>
        </p:nvSpPr>
        <p:spPr>
          <a:xfrm>
            <a:off x="2220856" y="7033250"/>
            <a:ext cx="4546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altLang="ko-KR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- Why </a:t>
            </a:r>
            <a:r>
              <a:rPr lang="ko-KR" alt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삼선엔지니어링</a:t>
            </a:r>
            <a:r>
              <a:rPr lang="en-US" altLang="ko-KR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?</a:t>
            </a:r>
          </a:p>
          <a:p>
            <a:pPr lvl="0" algn="l">
              <a:lnSpc>
                <a:spcPct val="116199"/>
              </a:lnSpc>
            </a:pPr>
            <a:r>
              <a:rPr 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- Customers</a:t>
            </a:r>
          </a:p>
          <a:p>
            <a:pPr lvl="0" algn="l">
              <a:lnSpc>
                <a:spcPct val="116199"/>
              </a:lnSpc>
            </a:pPr>
            <a:endParaRPr lang="ko-KR" altLang="en-US" sz="2200" dirty="0">
              <a:solidFill>
                <a:srgbClr val="000000"/>
              </a:solidFill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66620BA6-3A76-41D6-9D88-32F3B847D0E7}"/>
              </a:ext>
            </a:extLst>
          </p:cNvPr>
          <p:cNvSpPr txBox="1"/>
          <p:nvPr/>
        </p:nvSpPr>
        <p:spPr>
          <a:xfrm>
            <a:off x="7819774" y="7021393"/>
            <a:ext cx="45466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altLang="ko-KR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- </a:t>
            </a:r>
            <a:r>
              <a:rPr lang="ko-KR" alt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품질 </a:t>
            </a:r>
            <a:r>
              <a:rPr lang="en-US" altLang="ko-KR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/ </a:t>
            </a:r>
            <a:r>
              <a:rPr lang="ko-KR" alt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환경 </a:t>
            </a:r>
            <a:r>
              <a:rPr lang="en-US" altLang="ko-KR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/ </a:t>
            </a:r>
            <a:r>
              <a:rPr lang="ko-KR" alt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안전인증</a:t>
            </a:r>
            <a:endParaRPr lang="en-US" altLang="ko-KR" sz="2200" dirty="0">
              <a:solidFill>
                <a:srgbClr val="000000"/>
              </a:solidFill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pPr>
              <a:lnSpc>
                <a:spcPct val="116199"/>
              </a:lnSpc>
            </a:pPr>
            <a:r>
              <a:rPr 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- </a:t>
            </a:r>
            <a:r>
              <a:rPr lang="ko-KR" alt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특허 </a:t>
            </a:r>
            <a:r>
              <a:rPr lang="en-US" altLang="ko-KR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/ </a:t>
            </a:r>
            <a:r>
              <a:rPr lang="ko-KR" altLang="en-US" sz="2200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산업재산권</a:t>
            </a:r>
            <a:endParaRPr lang="en-US" sz="2200" dirty="0">
              <a:solidFill>
                <a:srgbClr val="000000"/>
              </a:solidFill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pPr lvl="0" algn="l">
              <a:lnSpc>
                <a:spcPct val="116199"/>
              </a:lnSpc>
            </a:pPr>
            <a:endParaRPr lang="ko-KR" altLang="en-US" sz="2200" dirty="0">
              <a:solidFill>
                <a:srgbClr val="000000"/>
              </a:solidFill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9282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id="{99C925BD-F636-431E-9035-4600284A30CD}"/>
              </a:ext>
            </a:extLst>
          </p:cNvPr>
          <p:cNvSpPr txBox="1"/>
          <p:nvPr/>
        </p:nvSpPr>
        <p:spPr>
          <a:xfrm>
            <a:off x="685800" y="825501"/>
            <a:ext cx="170307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endParaRPr lang="ko-KR" altLang="en-US" sz="4200" dirty="0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10913B-1099-4FD7-9FA0-2C3366B028A0}"/>
              </a:ext>
            </a:extLst>
          </p:cNvPr>
          <p:cNvSpPr txBox="1"/>
          <p:nvPr/>
        </p:nvSpPr>
        <p:spPr>
          <a:xfrm>
            <a:off x="571500" y="525419"/>
            <a:ext cx="91489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4200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About Us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3DB684D-91FF-489E-B56F-6F1C72C4E6BB}"/>
              </a:ext>
            </a:extLst>
          </p:cNvPr>
          <p:cNvSpPr/>
          <p:nvPr/>
        </p:nvSpPr>
        <p:spPr>
          <a:xfrm>
            <a:off x="2325256" y="1128151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A016F8C-34EF-4954-AA9E-9B625C291DD2}"/>
              </a:ext>
            </a:extLst>
          </p:cNvPr>
          <p:cNvSpPr/>
          <p:nvPr/>
        </p:nvSpPr>
        <p:spPr>
          <a:xfrm>
            <a:off x="0" y="9791700"/>
            <a:ext cx="9157254" cy="4953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6110621-2379-4C0B-B9E8-426CDDF7B2CF}"/>
              </a:ext>
            </a:extLst>
          </p:cNvPr>
          <p:cNvSpPr/>
          <p:nvPr/>
        </p:nvSpPr>
        <p:spPr>
          <a:xfrm>
            <a:off x="9157254" y="9793909"/>
            <a:ext cx="9144000" cy="49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5833828-1055-45E7-AEC1-5D39E00992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1653747"/>
            <a:ext cx="9220200" cy="32611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2AD0F6-6AFF-4743-A1E0-1A0A7AF3B5B5}"/>
              </a:ext>
            </a:extLst>
          </p:cNvPr>
          <p:cNvSpPr txBox="1"/>
          <p:nvPr/>
        </p:nvSpPr>
        <p:spPr>
          <a:xfrm>
            <a:off x="3714750" y="6286903"/>
            <a:ext cx="10972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삼선엔지니어링은 해상 및 육상용 엔진과 발전기에 대한 설치</a:t>
            </a:r>
            <a:r>
              <a:rPr lang="en-US" altLang="ko-KR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, Trouble-Shooting, </a:t>
            </a:r>
            <a:r>
              <a:rPr lang="ko-KR" altLang="en-US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정밀 정비</a:t>
            </a:r>
            <a:r>
              <a:rPr lang="en-US" altLang="ko-KR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, </a:t>
            </a:r>
            <a:r>
              <a:rPr lang="ko-KR" altLang="en-US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정기 유지보수</a:t>
            </a:r>
            <a:r>
              <a:rPr lang="en-US" altLang="ko-KR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, </a:t>
            </a:r>
            <a:r>
              <a:rPr lang="ko-KR" altLang="en-US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부품 공급에 이르기까지 전 주기를 아우르는 </a:t>
            </a:r>
            <a:r>
              <a:rPr lang="en-US" altLang="ko-KR" sz="33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Total Engineering Solution</a:t>
            </a:r>
            <a:r>
              <a:rPr lang="ko-KR" altLang="en-US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을 제공합니다</a:t>
            </a:r>
            <a:r>
              <a:rPr lang="en-US" altLang="ko-KR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.</a:t>
            </a:r>
            <a:endParaRPr lang="ko-KR" altLang="en-US" sz="3300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A32C5C3-7A58-4902-BD5F-5D4A58512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1539"/>
            <a:ext cx="9067800" cy="32520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46312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046251B-AC2C-446D-A79F-090E1A8FA4D5}"/>
              </a:ext>
            </a:extLst>
          </p:cNvPr>
          <p:cNvSpPr/>
          <p:nvPr/>
        </p:nvSpPr>
        <p:spPr>
          <a:xfrm>
            <a:off x="10054207" y="2519840"/>
            <a:ext cx="6103164" cy="171306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0899176E-FB7C-46CD-82FF-AA64E5FB6F11}"/>
              </a:ext>
            </a:extLst>
          </p:cNvPr>
          <p:cNvSpPr/>
          <p:nvPr/>
        </p:nvSpPr>
        <p:spPr>
          <a:xfrm>
            <a:off x="10027403" y="8266953"/>
            <a:ext cx="6103164" cy="17289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9CA9B30-0727-4CE5-B253-BDBC2F4D360A}"/>
              </a:ext>
            </a:extLst>
          </p:cNvPr>
          <p:cNvSpPr/>
          <p:nvPr/>
        </p:nvSpPr>
        <p:spPr>
          <a:xfrm>
            <a:off x="10027403" y="6352322"/>
            <a:ext cx="6103164" cy="17289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09F6257-1A6A-4D11-8BCB-D71C1E6E7520}"/>
              </a:ext>
            </a:extLst>
          </p:cNvPr>
          <p:cNvSpPr/>
          <p:nvPr/>
        </p:nvSpPr>
        <p:spPr>
          <a:xfrm>
            <a:off x="10027403" y="4445095"/>
            <a:ext cx="6103164" cy="16963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83F4F5D6-B0C3-40D2-BDF1-194F864D8877}"/>
              </a:ext>
            </a:extLst>
          </p:cNvPr>
          <p:cNvSpPr/>
          <p:nvPr/>
        </p:nvSpPr>
        <p:spPr>
          <a:xfrm>
            <a:off x="15428757" y="2519840"/>
            <a:ext cx="1558239" cy="1713065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C85F97E-8A90-4ADD-8B63-83FFE12B57FE}"/>
              </a:ext>
            </a:extLst>
          </p:cNvPr>
          <p:cNvSpPr/>
          <p:nvPr/>
        </p:nvSpPr>
        <p:spPr>
          <a:xfrm>
            <a:off x="3247230" y="4907691"/>
            <a:ext cx="540000" cy="457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1EDE750-EDF5-47B7-9A37-72B539F1C0EC}"/>
              </a:ext>
            </a:extLst>
          </p:cNvPr>
          <p:cNvSpPr/>
          <p:nvPr/>
        </p:nvSpPr>
        <p:spPr>
          <a:xfrm>
            <a:off x="3227248" y="3201277"/>
            <a:ext cx="540000" cy="4571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01A22A-1A17-433C-8324-9A3F10FD10CE}"/>
              </a:ext>
            </a:extLst>
          </p:cNvPr>
          <p:cNvSpPr/>
          <p:nvPr/>
        </p:nvSpPr>
        <p:spPr>
          <a:xfrm>
            <a:off x="2133600" y="0"/>
            <a:ext cx="16154400" cy="49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30E411-EC33-4BB7-88F2-09FE5C8F318B}"/>
              </a:ext>
            </a:extLst>
          </p:cNvPr>
          <p:cNvSpPr/>
          <p:nvPr/>
        </p:nvSpPr>
        <p:spPr>
          <a:xfrm>
            <a:off x="-13254" y="0"/>
            <a:ext cx="2985054" cy="4953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9C925BD-F636-431E-9035-4600284A30CD}"/>
              </a:ext>
            </a:extLst>
          </p:cNvPr>
          <p:cNvSpPr txBox="1"/>
          <p:nvPr/>
        </p:nvSpPr>
        <p:spPr>
          <a:xfrm>
            <a:off x="669235" y="853110"/>
            <a:ext cx="1971067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200" dirty="0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회사 소개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10913B-1099-4FD7-9FA0-2C3366B028A0}"/>
              </a:ext>
            </a:extLst>
          </p:cNvPr>
          <p:cNvSpPr txBox="1"/>
          <p:nvPr/>
        </p:nvSpPr>
        <p:spPr>
          <a:xfrm>
            <a:off x="669235" y="1720336"/>
            <a:ext cx="9148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2200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View Our History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1CA2E9D-E14F-4936-AD1C-016B43AA4766}"/>
              </a:ext>
            </a:extLst>
          </p:cNvPr>
          <p:cNvGrpSpPr/>
          <p:nvPr/>
        </p:nvGrpSpPr>
        <p:grpSpPr>
          <a:xfrm>
            <a:off x="3733800" y="2908771"/>
            <a:ext cx="153624" cy="6552728"/>
            <a:chOff x="4498768" y="188640"/>
            <a:chExt cx="153624" cy="6552728"/>
          </a:xfrm>
        </p:grpSpPr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03EAB9A6-19F0-4066-BF96-DB3C7C83E44E}"/>
                </a:ext>
              </a:extLst>
            </p:cNvPr>
            <p:cNvCxnSpPr/>
            <p:nvPr/>
          </p:nvCxnSpPr>
          <p:spPr>
            <a:xfrm>
              <a:off x="4572000" y="188640"/>
              <a:ext cx="0" cy="6552728"/>
            </a:xfrm>
            <a:prstGeom prst="line">
              <a:avLst/>
            </a:prstGeom>
            <a:ln w="1587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B7F8EEC6-77C9-4946-B94C-0F32820C9342}"/>
                </a:ext>
              </a:extLst>
            </p:cNvPr>
            <p:cNvSpPr/>
            <p:nvPr/>
          </p:nvSpPr>
          <p:spPr>
            <a:xfrm>
              <a:off x="4499176" y="1149873"/>
              <a:ext cx="144016" cy="144016"/>
            </a:xfrm>
            <a:prstGeom prst="ellipse">
              <a:avLst/>
            </a:prstGeom>
            <a:solidFill>
              <a:srgbClr val="FFC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서울남산체 B" panose="02020503020101020101" pitchFamily="18" charset="-127"/>
                <a:ea typeface="서울남산체 B" panose="02020503020101020101" pitchFamily="18" charset="-127"/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C83E722-776C-4EB0-95B0-8555C5B426F6}"/>
                </a:ext>
              </a:extLst>
            </p:cNvPr>
            <p:cNvSpPr/>
            <p:nvPr/>
          </p:nvSpPr>
          <p:spPr>
            <a:xfrm>
              <a:off x="4499176" y="2138412"/>
              <a:ext cx="144016" cy="144016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서울남산체 B" panose="02020503020101020101" pitchFamily="18" charset="-127"/>
                <a:ea typeface="서울남산체 B" panose="02020503020101020101" pitchFamily="18" charset="-127"/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1D3FF4A-71A3-4066-8D80-BC4654FCB234}"/>
                </a:ext>
              </a:extLst>
            </p:cNvPr>
            <p:cNvSpPr/>
            <p:nvPr/>
          </p:nvSpPr>
          <p:spPr>
            <a:xfrm>
              <a:off x="4499992" y="429794"/>
              <a:ext cx="144016" cy="14401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서울남산체 B" panose="02020503020101020101" pitchFamily="18" charset="-127"/>
                <a:ea typeface="서울남산체 B" panose="02020503020101020101" pitchFamily="18" charset="-127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ACE03911-6884-4BDA-8BB3-4AFC4B49BF71}"/>
                </a:ext>
              </a:extLst>
            </p:cNvPr>
            <p:cNvSpPr/>
            <p:nvPr/>
          </p:nvSpPr>
          <p:spPr>
            <a:xfrm>
              <a:off x="4508376" y="3039215"/>
              <a:ext cx="144016" cy="144016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서울남산체 B" panose="02020503020101020101" pitchFamily="18" charset="-127"/>
                <a:ea typeface="서울남산체 B" panose="02020503020101020101" pitchFamily="18" charset="-127"/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DCE2366-0167-4641-9B0E-254E573C72F9}"/>
                </a:ext>
              </a:extLst>
            </p:cNvPr>
            <p:cNvSpPr/>
            <p:nvPr/>
          </p:nvSpPr>
          <p:spPr>
            <a:xfrm>
              <a:off x="4498768" y="3970766"/>
              <a:ext cx="144016" cy="144016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서울남산체 B" panose="02020503020101020101" pitchFamily="18" charset="-127"/>
                <a:ea typeface="서울남산체 B" panose="02020503020101020101" pitchFamily="18" charset="-127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B1B31A3-1AF6-471D-8A79-B64629584EB5}"/>
                </a:ext>
              </a:extLst>
            </p:cNvPr>
            <p:cNvSpPr/>
            <p:nvPr/>
          </p:nvSpPr>
          <p:spPr>
            <a:xfrm>
              <a:off x="4498768" y="5058998"/>
              <a:ext cx="144016" cy="14401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서울남산체 B" panose="02020503020101020101" pitchFamily="18" charset="-127"/>
                <a:ea typeface="서울남산체 B" panose="02020503020101020101" pitchFamily="18" charset="-127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C944B84-F460-451F-B0BF-D411AF6DA42A}"/>
              </a:ext>
            </a:extLst>
          </p:cNvPr>
          <p:cNvSpPr txBox="1"/>
          <p:nvPr/>
        </p:nvSpPr>
        <p:spPr>
          <a:xfrm>
            <a:off x="416415" y="3051136"/>
            <a:ext cx="266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1990 </a:t>
            </a:r>
            <a:r>
              <a:rPr lang="ko-KR" altLang="en-US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삼선엔지니어링 창립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D169810-4B22-4684-8844-BC6FBF7984CB}"/>
              </a:ext>
            </a:extLst>
          </p:cNvPr>
          <p:cNvSpPr/>
          <p:nvPr/>
        </p:nvSpPr>
        <p:spPr>
          <a:xfrm>
            <a:off x="3846637" y="3915222"/>
            <a:ext cx="540000" cy="45719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1390C0-26FD-41EB-8203-93C1E014F658}"/>
              </a:ext>
            </a:extLst>
          </p:cNvPr>
          <p:cNvSpPr txBox="1"/>
          <p:nvPr/>
        </p:nvSpPr>
        <p:spPr>
          <a:xfrm>
            <a:off x="4447165" y="3827279"/>
            <a:ext cx="28831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1995 CAT </a:t>
            </a:r>
            <a:r>
              <a:rPr lang="ko-KR" altLang="en-US" sz="18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육</a:t>
            </a:r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· </a:t>
            </a:r>
            <a:r>
              <a:rPr lang="ko-KR" altLang="en-US" sz="18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해상 </a:t>
            </a:r>
            <a:endParaRPr lang="en-US" altLang="ko-KR" sz="1800" b="1" dirty="0">
              <a:solidFill>
                <a:srgbClr val="000000"/>
              </a:solidFill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pPr algn="l"/>
            <a:r>
              <a:rPr lang="ko-KR" altLang="en-US" sz="18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전문 대리점 라이선스 계약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8FE380-27BF-4EC3-BB40-84B25EF94228}"/>
              </a:ext>
            </a:extLst>
          </p:cNvPr>
          <p:cNvSpPr txBox="1"/>
          <p:nvPr/>
        </p:nvSpPr>
        <p:spPr>
          <a:xfrm>
            <a:off x="385384" y="4987120"/>
            <a:ext cx="2984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2002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법인 설립 및 상호변경  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9E3B8D5-75E8-4C3F-9F52-8DA2415BFA84}"/>
              </a:ext>
            </a:extLst>
          </p:cNvPr>
          <p:cNvSpPr/>
          <p:nvPr/>
        </p:nvSpPr>
        <p:spPr>
          <a:xfrm>
            <a:off x="3846817" y="5808494"/>
            <a:ext cx="540000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E03AE2-83B9-47F1-80D1-2BEB56AB2E6D}"/>
              </a:ext>
            </a:extLst>
          </p:cNvPr>
          <p:cNvSpPr txBox="1"/>
          <p:nvPr/>
        </p:nvSpPr>
        <p:spPr>
          <a:xfrm>
            <a:off x="4462684" y="5508187"/>
            <a:ext cx="3843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여수산단 주요 기업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(LG,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한화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, </a:t>
            </a:r>
            <a:r>
              <a:rPr lang="ko-KR" altLang="en-US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롯데 등</a:t>
            </a:r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) </a:t>
            </a:r>
            <a:r>
              <a:rPr lang="ko-KR" altLang="en-US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및 </a:t>
            </a:r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POSCO </a:t>
            </a:r>
            <a:r>
              <a:rPr lang="ko-KR" altLang="en-US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유지보수 </a:t>
            </a:r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&amp; </a:t>
            </a:r>
            <a:r>
              <a:rPr lang="ko-KR" altLang="en-US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공급계약 체결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56573AD-C6EA-48D1-B4AD-0338D6F3BF2C}"/>
              </a:ext>
            </a:extLst>
          </p:cNvPr>
          <p:cNvSpPr/>
          <p:nvPr/>
        </p:nvSpPr>
        <p:spPr>
          <a:xfrm>
            <a:off x="3227248" y="6736096"/>
            <a:ext cx="540000" cy="45719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51CE6D-37B0-4A28-9236-7DE4118CBBBE}"/>
              </a:ext>
            </a:extLst>
          </p:cNvPr>
          <p:cNvSpPr txBox="1"/>
          <p:nvPr/>
        </p:nvSpPr>
        <p:spPr>
          <a:xfrm>
            <a:off x="735489" y="6597149"/>
            <a:ext cx="2411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2014</a:t>
            </a:r>
            <a:r>
              <a:rPr lang="ko-KR" altLang="en-US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 본사 신축 및 이전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7C4D9B35-9CB7-436B-B3A4-CF56E260AFC5}"/>
              </a:ext>
            </a:extLst>
          </p:cNvPr>
          <p:cNvSpPr/>
          <p:nvPr/>
        </p:nvSpPr>
        <p:spPr>
          <a:xfrm>
            <a:off x="3733800" y="8770231"/>
            <a:ext cx="144016" cy="14401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7BA8365-3CBD-41DF-A61E-EB665FC2FE2F}"/>
              </a:ext>
            </a:extLst>
          </p:cNvPr>
          <p:cNvSpPr/>
          <p:nvPr/>
        </p:nvSpPr>
        <p:spPr>
          <a:xfrm>
            <a:off x="3864858" y="7828277"/>
            <a:ext cx="540000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634A1A-D786-4E85-9C78-E54E0764F3D1}"/>
              </a:ext>
            </a:extLst>
          </p:cNvPr>
          <p:cNvSpPr txBox="1"/>
          <p:nvPr/>
        </p:nvSpPr>
        <p:spPr>
          <a:xfrm>
            <a:off x="4462683" y="7189095"/>
            <a:ext cx="3699097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  <a:cs typeface="Aharoni" panose="02010803020104030203" pitchFamily="2" charset="-79"/>
              </a:rPr>
              <a:t>특허 번호 제 </a:t>
            </a:r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  <a:cs typeface="Aharoni" panose="02010803020104030203" pitchFamily="2" charset="-79"/>
              </a:rPr>
              <a:t>10-1689014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  <a:cs typeface="Aharoni" panose="02010803020104030203" pitchFamily="2" charset="-79"/>
              </a:rPr>
              <a:t>호</a:t>
            </a:r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  <a:cs typeface="Aharoni" panose="02010803020104030203" pitchFamily="2" charset="-79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  <a:cs typeface="Aharoni" panose="02010803020104030203" pitchFamily="2" charset="-79"/>
              </a:rPr>
              <a:t>특허 번호 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  <a:cs typeface="Aharoni" panose="02010803020104030203" pitchFamily="2" charset="-79"/>
              </a:rPr>
              <a:t>제 </a:t>
            </a:r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  <a:cs typeface="Aharoni" panose="02010803020104030203" pitchFamily="2" charset="-79"/>
              </a:rPr>
              <a:t>10-1902987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  <a:cs typeface="Aharoni" panose="02010803020104030203" pitchFamily="2" charset="-79"/>
              </a:rPr>
              <a:t>호</a:t>
            </a:r>
            <a:endParaRPr lang="en-US" altLang="ko-KR" sz="1800" b="1" dirty="0">
              <a:latin typeface="서울남산체 B" panose="02020503020101020101" pitchFamily="18" charset="-127"/>
              <a:ea typeface="서울남산체 B" panose="02020503020101020101" pitchFamily="18" charset="-127"/>
              <a:cs typeface="Aharoni" panose="02010803020104030203" pitchFamily="2" charset="-79"/>
            </a:endParaRPr>
          </a:p>
          <a:p>
            <a:pPr>
              <a:lnSpc>
                <a:spcPct val="150000"/>
              </a:lnSpc>
            </a:pPr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  <a:cs typeface="Aharoni" panose="02010803020104030203" pitchFamily="2" charset="-79"/>
              </a:rPr>
              <a:t>ISO 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  <a:cs typeface="Aharoni" panose="02010803020104030203" pitchFamily="2" charset="-79"/>
              </a:rPr>
              <a:t>인증 </a:t>
            </a:r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  <a:cs typeface="Aharoni" panose="02010803020104030203" pitchFamily="2" charset="-79"/>
              </a:rPr>
              <a:t>9001, 14001, 45001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F3BA498-4050-4042-8A5A-FF562BF50E69}"/>
              </a:ext>
            </a:extLst>
          </p:cNvPr>
          <p:cNvSpPr/>
          <p:nvPr/>
        </p:nvSpPr>
        <p:spPr>
          <a:xfrm>
            <a:off x="3209832" y="8819379"/>
            <a:ext cx="540000" cy="45719"/>
          </a:xfrm>
          <a:prstGeom prst="rect">
            <a:avLst/>
          </a:prstGeom>
          <a:solidFill>
            <a:srgbClr val="D99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332BAA6-76F2-4CDB-988F-69FB8BC347EF}"/>
              </a:ext>
            </a:extLst>
          </p:cNvPr>
          <p:cNvSpPr txBox="1"/>
          <p:nvPr/>
        </p:nvSpPr>
        <p:spPr>
          <a:xfrm>
            <a:off x="93551" y="8403433"/>
            <a:ext cx="34210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202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5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전기공사업 등록</a:t>
            </a:r>
            <a:r>
              <a:rPr lang="ko-KR" altLang="en-US" sz="18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endParaRPr lang="en-US" altLang="ko-KR" sz="1800" b="1" dirty="0">
              <a:solidFill>
                <a:srgbClr val="000000"/>
              </a:solidFill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pPr algn="ctr"/>
            <a:r>
              <a:rPr lang="ko-KR" altLang="en-US" sz="18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전기</a:t>
            </a:r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· </a:t>
            </a:r>
            <a:r>
              <a:rPr lang="ko-KR" altLang="en-US" sz="18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플랜트 신규 사업</a:t>
            </a:r>
            <a:endParaRPr lang="en-US" altLang="ko-KR" sz="1800" b="1" dirty="0">
              <a:solidFill>
                <a:srgbClr val="000000"/>
              </a:solidFill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pPr algn="ctr"/>
            <a:r>
              <a:rPr lang="ko-KR" altLang="en-US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진출 기반 확보</a:t>
            </a:r>
            <a:r>
              <a:rPr lang="ko-KR" altLang="en-US" sz="18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3DB684D-91FF-489E-B56F-6F1C72C4E6BB}"/>
              </a:ext>
            </a:extLst>
          </p:cNvPr>
          <p:cNvSpPr/>
          <p:nvPr/>
        </p:nvSpPr>
        <p:spPr>
          <a:xfrm>
            <a:off x="735489" y="2140398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8D5731-212E-4F9A-BBB5-F6F931FC0F12}"/>
              </a:ext>
            </a:extLst>
          </p:cNvPr>
          <p:cNvSpPr txBox="1"/>
          <p:nvPr/>
        </p:nvSpPr>
        <p:spPr>
          <a:xfrm>
            <a:off x="9139032" y="1703682"/>
            <a:ext cx="9148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22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Business</a:t>
            </a:r>
            <a:r>
              <a:rPr lang="ko-KR" altLang="en-US" sz="22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en-US" altLang="ko-KR" sz="22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Area</a:t>
            </a:r>
            <a:endParaRPr lang="en-US" altLang="ko-KR" sz="2200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7AD7FCA-0322-4694-A102-322EFD7DE31E}"/>
              </a:ext>
            </a:extLst>
          </p:cNvPr>
          <p:cNvSpPr/>
          <p:nvPr/>
        </p:nvSpPr>
        <p:spPr>
          <a:xfrm>
            <a:off x="9215476" y="2140398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AA35466E-731E-4662-9902-254749E23255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455" y="2528247"/>
            <a:ext cx="1692000" cy="1691586"/>
          </a:xfrm>
          <a:prstGeom prst="ellipse">
            <a:avLst/>
          </a:prstGeom>
          <a:ln w="635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0FDC08B9-D091-4C76-81CD-E7A4D8C9FFA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642" y="4447299"/>
            <a:ext cx="1692000" cy="1692000"/>
          </a:xfrm>
          <a:prstGeom prst="ellipse">
            <a:avLst/>
          </a:prstGeom>
          <a:ln w="635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1B6BF49C-0DEC-4350-9D57-B3A5E35FEB0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618" y="6374301"/>
            <a:ext cx="1692000" cy="1692000"/>
          </a:xfrm>
          <a:prstGeom prst="ellipse">
            <a:avLst/>
          </a:prstGeom>
          <a:ln w="635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36B5CD-6454-49B2-9BBD-1035040D3D26}"/>
              </a:ext>
            </a:extLst>
          </p:cNvPr>
          <p:cNvSpPr txBox="1"/>
          <p:nvPr/>
        </p:nvSpPr>
        <p:spPr>
          <a:xfrm>
            <a:off x="11126530" y="2804653"/>
            <a:ext cx="45720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0000"/>
                </a:solidFill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세일즈 </a:t>
            </a:r>
            <a:r>
              <a:rPr lang="en-US" altLang="ko-KR" sz="2400" dirty="0">
                <a:solidFill>
                  <a:srgbClr val="000000"/>
                </a:solidFill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(Sales)</a:t>
            </a:r>
          </a:p>
          <a:p>
            <a:r>
              <a:rPr lang="ko-KR" altLang="en-US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육</a:t>
            </a:r>
            <a:r>
              <a:rPr lang="en-US" altLang="ko-KR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해상 디젤 엔진 및 비상발전기 판매</a:t>
            </a:r>
            <a:endParaRPr lang="en-US" altLang="ko-KR" sz="2200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ko-KR" altLang="en-US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엔진 관련 부품 및 소모품 유통</a:t>
            </a:r>
            <a:endParaRPr lang="en-US" altLang="ko-KR" sz="2200" dirty="0">
              <a:solidFill>
                <a:schemeClr val="bg1"/>
              </a:solidFill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51" name="순서도: 연결자 50">
            <a:extLst>
              <a:ext uri="{FF2B5EF4-FFF2-40B4-BE49-F238E27FC236}">
                <a16:creationId xmlns:a16="http://schemas.microsoft.com/office/drawing/2014/main" id="{B61B38B9-065A-4B13-9394-50E3416D9B24}"/>
              </a:ext>
            </a:extLst>
          </p:cNvPr>
          <p:cNvSpPr/>
          <p:nvPr/>
        </p:nvSpPr>
        <p:spPr>
          <a:xfrm>
            <a:off x="15366692" y="4445095"/>
            <a:ext cx="1558239" cy="1696346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9EE8D9-6EF7-4CF1-AC72-2A61AB23FA65}"/>
              </a:ext>
            </a:extLst>
          </p:cNvPr>
          <p:cNvSpPr txBox="1"/>
          <p:nvPr/>
        </p:nvSpPr>
        <p:spPr>
          <a:xfrm>
            <a:off x="11126530" y="4723881"/>
            <a:ext cx="556127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0000"/>
                </a:solidFill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유지보수 </a:t>
            </a:r>
            <a:r>
              <a:rPr lang="en-US" altLang="ko-KR" sz="2400" dirty="0">
                <a:solidFill>
                  <a:srgbClr val="000000"/>
                </a:solidFill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(Maintenance)</a:t>
            </a:r>
            <a:r>
              <a:rPr lang="ko-KR" altLang="en-US" sz="2400" dirty="0">
                <a:solidFill>
                  <a:srgbClr val="000000"/>
                </a:solidFill>
              </a:rPr>
              <a:t> </a:t>
            </a:r>
            <a:endParaRPr lang="en-US" altLang="ko-KR" sz="2400" dirty="0">
              <a:solidFill>
                <a:srgbClr val="000000"/>
              </a:solidFill>
            </a:endParaRPr>
          </a:p>
          <a:p>
            <a:r>
              <a:rPr lang="ko-KR" altLang="en-US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비상발전기 </a:t>
            </a:r>
            <a:r>
              <a:rPr lang="en-US" altLang="ko-KR" sz="22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 </a:t>
            </a:r>
            <a:r>
              <a:rPr lang="ko-KR" altLang="en-US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디젤 엔진 정기 점검 및 수리</a:t>
            </a:r>
            <a:endParaRPr lang="en-US" altLang="ko-KR" sz="2200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en-US" altLang="ko-KR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24</a:t>
            </a:r>
            <a:r>
              <a:rPr lang="ko-KR" altLang="en-US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시간 긴급 대응 체계 및 이력 관리</a:t>
            </a:r>
            <a:endParaRPr lang="en-US" altLang="ko-KR" sz="2200" dirty="0">
              <a:solidFill>
                <a:schemeClr val="bg1"/>
              </a:solidFill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69" name="순서도: 연결자 68">
            <a:extLst>
              <a:ext uri="{FF2B5EF4-FFF2-40B4-BE49-F238E27FC236}">
                <a16:creationId xmlns:a16="http://schemas.microsoft.com/office/drawing/2014/main" id="{716718E1-FDAF-4B08-8CF5-148AEA4D7DBB}"/>
              </a:ext>
            </a:extLst>
          </p:cNvPr>
          <p:cNvSpPr/>
          <p:nvPr/>
        </p:nvSpPr>
        <p:spPr>
          <a:xfrm>
            <a:off x="15366692" y="6352322"/>
            <a:ext cx="1558239" cy="172899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12CA164-AFE3-423B-B53B-5FCB3D0668CD}"/>
              </a:ext>
            </a:extLst>
          </p:cNvPr>
          <p:cNvSpPr txBox="1"/>
          <p:nvPr/>
        </p:nvSpPr>
        <p:spPr>
          <a:xfrm>
            <a:off x="11126530" y="6631263"/>
            <a:ext cx="563747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000000"/>
                </a:solidFill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시공업</a:t>
            </a:r>
            <a:r>
              <a:rPr lang="ko-KR" altLang="en-US" sz="2400" dirty="0">
                <a:solidFill>
                  <a:srgbClr val="000000"/>
                </a:solidFill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 </a:t>
            </a:r>
            <a:r>
              <a:rPr lang="en-US" altLang="ko-KR" sz="2400" dirty="0">
                <a:solidFill>
                  <a:srgbClr val="000000"/>
                </a:solidFill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(Construction)</a:t>
            </a:r>
            <a:r>
              <a:rPr lang="ko-KR" altLang="en-US" sz="2400" dirty="0">
                <a:solidFill>
                  <a:srgbClr val="000000"/>
                </a:solidFill>
              </a:rPr>
              <a:t> </a:t>
            </a:r>
            <a:endParaRPr lang="en-US" altLang="ko-KR" sz="2400" dirty="0">
              <a:solidFill>
                <a:srgbClr val="000000"/>
              </a:solidFill>
            </a:endParaRPr>
          </a:p>
          <a:p>
            <a:r>
              <a:rPr lang="ko-KR" altLang="en-US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전기공사업 면허 보유 기반 신규 시공 역량 보유</a:t>
            </a:r>
            <a:endParaRPr lang="en-US" altLang="ko-KR" sz="2200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ko-KR" altLang="en-US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이전</a:t>
            </a:r>
            <a:r>
              <a:rPr lang="en-US" altLang="ko-KR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및 개조 공사 수행</a:t>
            </a:r>
            <a:endParaRPr lang="en-US" altLang="ko-KR" sz="2200" dirty="0">
              <a:solidFill>
                <a:schemeClr val="bg1"/>
              </a:solidFill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72" name="순서도: 연결자 71">
            <a:extLst>
              <a:ext uri="{FF2B5EF4-FFF2-40B4-BE49-F238E27FC236}">
                <a16:creationId xmlns:a16="http://schemas.microsoft.com/office/drawing/2014/main" id="{7FCFCD0E-DEDF-4E8E-9B36-BEFDF39C6D4C}"/>
              </a:ext>
            </a:extLst>
          </p:cNvPr>
          <p:cNvSpPr/>
          <p:nvPr/>
        </p:nvSpPr>
        <p:spPr>
          <a:xfrm>
            <a:off x="15366692" y="8266953"/>
            <a:ext cx="1558239" cy="1728990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4A17E90-3E2E-4077-BD78-8571D2687F0D}"/>
              </a:ext>
            </a:extLst>
          </p:cNvPr>
          <p:cNvSpPr txBox="1"/>
          <p:nvPr/>
        </p:nvSpPr>
        <p:spPr>
          <a:xfrm>
            <a:off x="11126530" y="8559450"/>
            <a:ext cx="45720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000000"/>
                </a:solidFill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임대업 </a:t>
            </a:r>
            <a:r>
              <a:rPr lang="en-US" altLang="ko-KR" sz="2400" dirty="0">
                <a:solidFill>
                  <a:srgbClr val="000000"/>
                </a:solidFill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(Rental)</a:t>
            </a:r>
          </a:p>
          <a:p>
            <a:r>
              <a:rPr lang="ko-KR" altLang="en-US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비상발전기 단기</a:t>
            </a:r>
            <a:r>
              <a:rPr lang="en-US" altLang="ko-KR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장기 임대 서비스</a:t>
            </a:r>
            <a:endParaRPr lang="en-US" altLang="ko-KR" sz="2200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ko-KR" altLang="en-US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건설 기계</a:t>
            </a:r>
            <a:r>
              <a:rPr lang="en-US" altLang="ko-KR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·</a:t>
            </a:r>
            <a:r>
              <a:rPr lang="ko-KR" altLang="en-US" sz="22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장비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367C66-A63F-4275-9CA2-2A500956E9B3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642" y="8282837"/>
            <a:ext cx="1692000" cy="1692000"/>
          </a:xfrm>
          <a:prstGeom prst="ellipse">
            <a:avLst/>
          </a:prstGeom>
          <a:ln w="6350" cap="rnd">
            <a:solidFill>
              <a:schemeClr val="tx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690D3ED-81B0-49F5-92BD-11154B47FE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692" y="3489964"/>
            <a:ext cx="1743075" cy="3429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4031130-8DC9-4E86-87D6-A53C0042725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323" y="4565434"/>
            <a:ext cx="1702544" cy="39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15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01A22A-1A17-433C-8324-9A3F10FD10CE}"/>
              </a:ext>
            </a:extLst>
          </p:cNvPr>
          <p:cNvSpPr/>
          <p:nvPr/>
        </p:nvSpPr>
        <p:spPr>
          <a:xfrm>
            <a:off x="2133600" y="0"/>
            <a:ext cx="16154400" cy="49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30E411-EC33-4BB7-88F2-09FE5C8F318B}"/>
              </a:ext>
            </a:extLst>
          </p:cNvPr>
          <p:cNvSpPr/>
          <p:nvPr/>
        </p:nvSpPr>
        <p:spPr>
          <a:xfrm>
            <a:off x="-13254" y="0"/>
            <a:ext cx="2985054" cy="4953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9C925BD-F636-431E-9035-4600284A30CD}"/>
              </a:ext>
            </a:extLst>
          </p:cNvPr>
          <p:cNvSpPr txBox="1"/>
          <p:nvPr/>
        </p:nvSpPr>
        <p:spPr>
          <a:xfrm>
            <a:off x="728863" y="851152"/>
            <a:ext cx="19812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200" dirty="0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회사 소개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10913B-1099-4FD7-9FA0-2C3366B028A0}"/>
              </a:ext>
            </a:extLst>
          </p:cNvPr>
          <p:cNvSpPr txBox="1"/>
          <p:nvPr/>
        </p:nvSpPr>
        <p:spPr>
          <a:xfrm>
            <a:off x="669235" y="1720336"/>
            <a:ext cx="9148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2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조직도 </a:t>
            </a:r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(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Organization Chart)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3DB684D-91FF-489E-B56F-6F1C72C4E6BB}"/>
              </a:ext>
            </a:extLst>
          </p:cNvPr>
          <p:cNvSpPr/>
          <p:nvPr/>
        </p:nvSpPr>
        <p:spPr>
          <a:xfrm>
            <a:off x="735489" y="2140398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8D5731-212E-4F9A-BBB5-F6F931FC0F12}"/>
              </a:ext>
            </a:extLst>
          </p:cNvPr>
          <p:cNvSpPr txBox="1"/>
          <p:nvPr/>
        </p:nvSpPr>
        <p:spPr>
          <a:xfrm>
            <a:off x="669235" y="7265549"/>
            <a:ext cx="9148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2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인력현황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(Personnel Status)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7AD7FCA-0322-4694-A102-322EFD7DE31E}"/>
              </a:ext>
            </a:extLst>
          </p:cNvPr>
          <p:cNvSpPr/>
          <p:nvPr/>
        </p:nvSpPr>
        <p:spPr>
          <a:xfrm>
            <a:off x="745679" y="7702265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F1B3349-4A19-4A20-B4DB-28375E2DF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79" y="2705604"/>
            <a:ext cx="13411200" cy="39223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9A83CC2-3A46-4D32-804B-AA7DE5165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76" y="7955656"/>
            <a:ext cx="7878424" cy="198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74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01A22A-1A17-433C-8324-9A3F10FD10CE}"/>
              </a:ext>
            </a:extLst>
          </p:cNvPr>
          <p:cNvSpPr/>
          <p:nvPr/>
        </p:nvSpPr>
        <p:spPr>
          <a:xfrm>
            <a:off x="2133600" y="0"/>
            <a:ext cx="16154400" cy="49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30E411-EC33-4BB7-88F2-09FE5C8F318B}"/>
              </a:ext>
            </a:extLst>
          </p:cNvPr>
          <p:cNvSpPr/>
          <p:nvPr/>
        </p:nvSpPr>
        <p:spPr>
          <a:xfrm>
            <a:off x="-13254" y="0"/>
            <a:ext cx="2985054" cy="4953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9C925BD-F636-431E-9035-4600284A30CD}"/>
              </a:ext>
            </a:extLst>
          </p:cNvPr>
          <p:cNvSpPr txBox="1"/>
          <p:nvPr/>
        </p:nvSpPr>
        <p:spPr>
          <a:xfrm>
            <a:off x="662609" y="825501"/>
            <a:ext cx="19812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200" dirty="0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실적 현황</a:t>
            </a:r>
          </a:p>
        </p:txBody>
      </p:sp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2275CF64-E99B-499F-AC72-2931CC9A8D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7068702"/>
              </p:ext>
            </p:extLst>
          </p:nvPr>
        </p:nvGraphicFramePr>
        <p:xfrm>
          <a:off x="728863" y="3891556"/>
          <a:ext cx="54864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F8E226D1-28EA-4A39-B5E1-AF6F0FC19F81}"/>
              </a:ext>
            </a:extLst>
          </p:cNvPr>
          <p:cNvSpPr txBox="1"/>
          <p:nvPr/>
        </p:nvSpPr>
        <p:spPr>
          <a:xfrm>
            <a:off x="662609" y="1905002"/>
            <a:ext cx="9148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200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영업실적 추이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(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Revenue Trend)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3E53DF-70E2-4D9B-8D4B-AE6E0A8BA04D}"/>
              </a:ext>
            </a:extLst>
          </p:cNvPr>
          <p:cNvSpPr/>
          <p:nvPr/>
        </p:nvSpPr>
        <p:spPr>
          <a:xfrm>
            <a:off x="728863" y="2325064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9FE9CC-EFD6-48DE-B319-09407C1CC3F0}"/>
              </a:ext>
            </a:extLst>
          </p:cNvPr>
          <p:cNvSpPr txBox="1"/>
          <p:nvPr/>
        </p:nvSpPr>
        <p:spPr>
          <a:xfrm>
            <a:off x="9220200" y="1905002"/>
            <a:ext cx="91489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200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연도별 주요 프로젝트 </a:t>
            </a:r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(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Major Projects by Year)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3200B16-3F1A-4734-953C-04F9661A35FF}"/>
              </a:ext>
            </a:extLst>
          </p:cNvPr>
          <p:cNvSpPr/>
          <p:nvPr/>
        </p:nvSpPr>
        <p:spPr>
          <a:xfrm>
            <a:off x="9286454" y="2325064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7E29C9-BC15-4D40-8B65-DA5BF6B83FAD}"/>
              </a:ext>
            </a:extLst>
          </p:cNvPr>
          <p:cNvSpPr txBox="1"/>
          <p:nvPr/>
        </p:nvSpPr>
        <p:spPr>
          <a:xfrm>
            <a:off x="4648200" y="3652205"/>
            <a:ext cx="16764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</a:t>
            </a:r>
            <a:r>
              <a:rPr lang="ko-KR" altLang="en-US" sz="13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단위 </a:t>
            </a:r>
            <a:r>
              <a:rPr lang="en-US" altLang="ko-KR" sz="13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 </a:t>
            </a:r>
            <a:r>
              <a:rPr lang="ko-KR" altLang="en-US" sz="13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백만 원</a:t>
            </a:r>
            <a:r>
              <a:rPr lang="en-US" altLang="ko-KR" sz="13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, %)</a:t>
            </a:r>
            <a:endParaRPr lang="ko-KR" altLang="en-US" sz="1300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pic>
        <p:nvPicPr>
          <p:cNvPr id="27" name="Picture 5">
            <a:extLst>
              <a:ext uri="{FF2B5EF4-FFF2-40B4-BE49-F238E27FC236}">
                <a16:creationId xmlns:a16="http://schemas.microsoft.com/office/drawing/2014/main" id="{AA214B3B-D858-4A72-A064-385783A9C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0322" y="3206032"/>
            <a:ext cx="7258878" cy="1833770"/>
          </a:xfrm>
          <a:prstGeom prst="rect">
            <a:avLst/>
          </a:prstGeom>
          <a:effectLst>
            <a:outerShdw blurRad="146885" dir="5400000">
              <a:srgbClr val="CACACA">
                <a:alpha val="50000"/>
              </a:srgbClr>
            </a:outerShdw>
          </a:effectLst>
        </p:spPr>
      </p:pic>
      <p:pic>
        <p:nvPicPr>
          <p:cNvPr id="29" name="Picture 5">
            <a:extLst>
              <a:ext uri="{FF2B5EF4-FFF2-40B4-BE49-F238E27FC236}">
                <a16:creationId xmlns:a16="http://schemas.microsoft.com/office/drawing/2014/main" id="{45F45C3F-BB82-4379-9387-6F69C9C57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574" y="5617608"/>
            <a:ext cx="7245626" cy="1833770"/>
          </a:xfrm>
          <a:prstGeom prst="rect">
            <a:avLst/>
          </a:prstGeom>
          <a:effectLst>
            <a:outerShdw blurRad="146885" dir="5400000">
              <a:srgbClr val="CACACA">
                <a:alpha val="50000"/>
              </a:srgbClr>
            </a:outerShdw>
          </a:effectLst>
        </p:spPr>
      </p:pic>
      <p:pic>
        <p:nvPicPr>
          <p:cNvPr id="32" name="Picture 5">
            <a:extLst>
              <a:ext uri="{FF2B5EF4-FFF2-40B4-BE49-F238E27FC236}">
                <a16:creationId xmlns:a16="http://schemas.microsoft.com/office/drawing/2014/main" id="{4685976D-5248-4A08-949E-7747AB2DC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0322" y="7968558"/>
            <a:ext cx="7258878" cy="1833770"/>
          </a:xfrm>
          <a:prstGeom prst="rect">
            <a:avLst/>
          </a:prstGeom>
          <a:effectLst>
            <a:outerShdw blurRad="146885" dir="5400000">
              <a:srgbClr val="CACACA">
                <a:alpha val="50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576F80C-843B-4162-8C55-FBFA25E1BED4}"/>
              </a:ext>
            </a:extLst>
          </p:cNvPr>
          <p:cNvSpPr txBox="1"/>
          <p:nvPr/>
        </p:nvSpPr>
        <p:spPr>
          <a:xfrm>
            <a:off x="9664424" y="3984942"/>
            <a:ext cx="9144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>
                <a:solidFill>
                  <a:schemeClr val="bg1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25</a:t>
            </a:r>
            <a:r>
              <a:rPr lang="ko-KR" altLang="en-US" sz="2500" dirty="0">
                <a:solidFill>
                  <a:schemeClr val="bg1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CD8399-2109-431B-85ED-515C77CDC95F}"/>
              </a:ext>
            </a:extLst>
          </p:cNvPr>
          <p:cNvSpPr txBox="1"/>
          <p:nvPr/>
        </p:nvSpPr>
        <p:spPr>
          <a:xfrm>
            <a:off x="9286454" y="2828416"/>
            <a:ext cx="1319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２０２５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24128F-61AB-4EFB-81A3-1CA8D05BC780}"/>
              </a:ext>
            </a:extLst>
          </p:cNvPr>
          <p:cNvSpPr txBox="1"/>
          <p:nvPr/>
        </p:nvSpPr>
        <p:spPr>
          <a:xfrm>
            <a:off x="9286454" y="5141154"/>
            <a:ext cx="1319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２０２４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E41741-F44B-4E27-835A-CE505C9B37C4}"/>
              </a:ext>
            </a:extLst>
          </p:cNvPr>
          <p:cNvSpPr txBox="1"/>
          <p:nvPr/>
        </p:nvSpPr>
        <p:spPr>
          <a:xfrm>
            <a:off x="9286454" y="7525302"/>
            <a:ext cx="1319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２０２３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E9599B-C139-4E16-AD72-FDA1BBD06F4C}"/>
              </a:ext>
            </a:extLst>
          </p:cNvPr>
          <p:cNvSpPr txBox="1"/>
          <p:nvPr/>
        </p:nvSpPr>
        <p:spPr>
          <a:xfrm>
            <a:off x="9556454" y="6088292"/>
            <a:ext cx="838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포스코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EDG, 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소방 펌프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관련 정기 점검 및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O/H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 770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백만</a:t>
            </a:r>
            <a:endParaRPr lang="en-US" altLang="ko-KR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연구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1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호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</a:t>
            </a:r>
            <a:r>
              <a:rPr lang="ko-KR" altLang="en-US" b="1" dirty="0" err="1">
                <a:latin typeface="서울남산체 B" panose="02020503020101020101" pitchFamily="18" charset="-127"/>
                <a:ea typeface="서울남산체 B" panose="02020503020101020101" pitchFamily="18" charset="-127"/>
              </a:rPr>
              <a:t>국립공원공단국립공원연구원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) 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선박 엔진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O/H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 346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백만</a:t>
            </a:r>
            <a:endParaRPr lang="en-US" altLang="ko-KR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금호석유화학 비상발전기 신규 설치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 296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백만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3BD5D1-8EB2-47E9-A37F-E356E0202688}"/>
              </a:ext>
            </a:extLst>
          </p:cNvPr>
          <p:cNvSpPr txBox="1"/>
          <p:nvPr/>
        </p:nvSpPr>
        <p:spPr>
          <a:xfrm>
            <a:off x="9556454" y="3629663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포스코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EDG 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관련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O/H 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및 비상발전기 임대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 415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백만</a:t>
            </a:r>
            <a:endParaRPr lang="en-US" altLang="ko-KR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b="1" dirty="0" err="1">
                <a:latin typeface="서울남산체 B" panose="02020503020101020101" pitchFamily="18" charset="-127"/>
                <a:ea typeface="서울남산체 B" panose="02020503020101020101" pitchFamily="18" charset="-127"/>
              </a:rPr>
              <a:t>소방정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등 주요 관공선 점검 및 기관 수리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 334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백만</a:t>
            </a:r>
            <a:endParaRPr lang="en-US" altLang="ko-KR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OCI(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군산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) Pump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Engine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O/H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158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백만</a:t>
            </a:r>
            <a:endParaRPr lang="en-US" altLang="ko-KR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endParaRPr lang="ko-KR" altLang="en-US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3061CD-D7B8-48DC-A904-DF50C14FA832}"/>
              </a:ext>
            </a:extLst>
          </p:cNvPr>
          <p:cNvSpPr txBox="1"/>
          <p:nvPr/>
        </p:nvSpPr>
        <p:spPr>
          <a:xfrm>
            <a:off x="9556454" y="8423778"/>
            <a:ext cx="838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포스코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EDG, 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소방 펌프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관련 정기 점검 및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O/H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 790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백만</a:t>
            </a:r>
            <a:endParaRPr lang="en-US" altLang="ko-KR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sz="1800" b="1" dirty="0" err="1">
                <a:latin typeface="서울남산체 B" panose="02020503020101020101" pitchFamily="18" charset="-127"/>
                <a:ea typeface="서울남산체 B" panose="02020503020101020101" pitchFamily="18" charset="-127"/>
              </a:rPr>
              <a:t>롯데케미칼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비상발전기</a:t>
            </a:r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(CAT 3516B) O/H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 376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백만</a:t>
            </a:r>
            <a:endParaRPr lang="en-US" altLang="ko-KR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 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한화솔루션㈜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비상발전기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O/H : 130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백만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32950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01A22A-1A17-433C-8324-9A3F10FD10CE}"/>
              </a:ext>
            </a:extLst>
          </p:cNvPr>
          <p:cNvSpPr/>
          <p:nvPr/>
        </p:nvSpPr>
        <p:spPr>
          <a:xfrm>
            <a:off x="2133600" y="0"/>
            <a:ext cx="16154400" cy="49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30E411-EC33-4BB7-88F2-09FE5C8F318B}"/>
              </a:ext>
            </a:extLst>
          </p:cNvPr>
          <p:cNvSpPr/>
          <p:nvPr/>
        </p:nvSpPr>
        <p:spPr>
          <a:xfrm>
            <a:off x="-13254" y="0"/>
            <a:ext cx="2985054" cy="4953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9C925BD-F636-431E-9035-4600284A30CD}"/>
              </a:ext>
            </a:extLst>
          </p:cNvPr>
          <p:cNvSpPr txBox="1"/>
          <p:nvPr/>
        </p:nvSpPr>
        <p:spPr>
          <a:xfrm>
            <a:off x="685800" y="825501"/>
            <a:ext cx="170307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200" dirty="0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엔지니어 기술적 역량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10913B-1099-4FD7-9FA0-2C3366B028A0}"/>
              </a:ext>
            </a:extLst>
          </p:cNvPr>
          <p:cNvSpPr txBox="1"/>
          <p:nvPr/>
        </p:nvSpPr>
        <p:spPr>
          <a:xfrm>
            <a:off x="669235" y="1720336"/>
            <a:ext cx="9148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주요 기술 인력 현황 </a:t>
            </a:r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(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Key Technical Personnel Overview)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3DB684D-91FF-489E-B56F-6F1C72C4E6BB}"/>
              </a:ext>
            </a:extLst>
          </p:cNvPr>
          <p:cNvSpPr/>
          <p:nvPr/>
        </p:nvSpPr>
        <p:spPr>
          <a:xfrm>
            <a:off x="735489" y="2140398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8D5731-212E-4F9A-BBB5-F6F931FC0F12}"/>
              </a:ext>
            </a:extLst>
          </p:cNvPr>
          <p:cNvSpPr txBox="1"/>
          <p:nvPr/>
        </p:nvSpPr>
        <p:spPr>
          <a:xfrm>
            <a:off x="9139032" y="1703682"/>
            <a:ext cx="9148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국내외 교육센터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(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Local and International Training Facilities)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7AD7FCA-0322-4694-A102-322EFD7DE31E}"/>
              </a:ext>
            </a:extLst>
          </p:cNvPr>
          <p:cNvSpPr/>
          <p:nvPr/>
        </p:nvSpPr>
        <p:spPr>
          <a:xfrm>
            <a:off x="9215476" y="2140398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pic>
        <p:nvPicPr>
          <p:cNvPr id="67" name="Picture 5">
            <a:extLst>
              <a:ext uri="{FF2B5EF4-FFF2-40B4-BE49-F238E27FC236}">
                <a16:creationId xmlns:a16="http://schemas.microsoft.com/office/drawing/2014/main" id="{5971E5AC-E18D-41C3-8E0C-102F5E655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29" y="3015915"/>
            <a:ext cx="7855471" cy="1560417"/>
          </a:xfrm>
          <a:prstGeom prst="rect">
            <a:avLst/>
          </a:prstGeom>
          <a:effectLst>
            <a:outerShdw blurRad="146885" dir="5400000">
              <a:srgbClr val="CACACA">
                <a:alpha val="50000"/>
              </a:srgbClr>
            </a:outerShdw>
          </a:effectLst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FB4DF92D-6B73-4C55-90F7-4D29695F4D18}"/>
              </a:ext>
            </a:extLst>
          </p:cNvPr>
          <p:cNvSpPr txBox="1"/>
          <p:nvPr/>
        </p:nvSpPr>
        <p:spPr>
          <a:xfrm>
            <a:off x="688862" y="2598517"/>
            <a:ext cx="1319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서울남산체 B" panose="02020503020101020101" pitchFamily="18" charset="-127"/>
                <a:ea typeface="서울남산체 B" panose="02020503020101020101" pitchFamily="18" charset="-127"/>
              </a:rPr>
              <a:t>황경환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이사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027824B-B60D-49E6-980A-04CECAF72B1E}"/>
              </a:ext>
            </a:extLst>
          </p:cNvPr>
          <p:cNvSpPr txBox="1"/>
          <p:nvPr/>
        </p:nvSpPr>
        <p:spPr>
          <a:xfrm>
            <a:off x="685800" y="3232171"/>
            <a:ext cx="838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 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기술경력 </a:t>
            </a:r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 30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년 </a:t>
            </a:r>
            <a:endParaRPr lang="en-US" altLang="ko-KR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주요업무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 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엔지니어 서비스 부문 총괄</a:t>
            </a:r>
            <a:endParaRPr lang="en-US" altLang="ko-KR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보유자격</a:t>
            </a:r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: </a:t>
            </a:r>
            <a:r>
              <a:rPr kumimoji="1" lang="en-US" altLang="ko-K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Marine Installation Diagnostics, D3600 Master Mechanic</a:t>
            </a:r>
            <a:endParaRPr kumimoji="1"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kumimoji="1" lang="en-US" altLang="ko-K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                Marine Engine System Troubleshooting, MID MEST etc.</a:t>
            </a:r>
            <a:endParaRPr kumimoji="1" lang="ko-KR" altLang="ko-KR" sz="18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endParaRPr lang="ko-KR" altLang="en-US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pic>
        <p:nvPicPr>
          <p:cNvPr id="77" name="Picture 5">
            <a:extLst>
              <a:ext uri="{FF2B5EF4-FFF2-40B4-BE49-F238E27FC236}">
                <a16:creationId xmlns:a16="http://schemas.microsoft.com/office/drawing/2014/main" id="{A5E83941-6505-49CA-97DA-8045540CE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29" y="5301821"/>
            <a:ext cx="7855471" cy="1560417"/>
          </a:xfrm>
          <a:prstGeom prst="rect">
            <a:avLst/>
          </a:prstGeom>
          <a:effectLst>
            <a:outerShdw blurRad="146885" dir="5400000">
              <a:srgbClr val="CACACA">
                <a:alpha val="50000"/>
              </a:srgbClr>
            </a:outerShdw>
          </a:effectLst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93B39190-22AB-435A-A6B4-4A75E26461C6}"/>
              </a:ext>
            </a:extLst>
          </p:cNvPr>
          <p:cNvSpPr txBox="1"/>
          <p:nvPr/>
        </p:nvSpPr>
        <p:spPr>
          <a:xfrm>
            <a:off x="688862" y="4884423"/>
            <a:ext cx="1319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김상현 부장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090D576-585A-4B57-8C80-A58B12404349}"/>
              </a:ext>
            </a:extLst>
          </p:cNvPr>
          <p:cNvSpPr txBox="1"/>
          <p:nvPr/>
        </p:nvSpPr>
        <p:spPr>
          <a:xfrm>
            <a:off x="669235" y="5502579"/>
            <a:ext cx="838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 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기술경력 </a:t>
            </a:r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 22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년 </a:t>
            </a:r>
            <a:endParaRPr lang="en-US" altLang="ko-KR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주요업무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 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해상엔진 정비 및 전자식 엔진 서비스 총괄</a:t>
            </a:r>
            <a:endParaRPr lang="en-US" altLang="ko-KR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보유자격</a:t>
            </a:r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: </a:t>
            </a:r>
            <a:r>
              <a:rPr kumimoji="1" lang="en-US" altLang="ko-K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AMD Master Mechanic, MCS Troubleshooting, </a:t>
            </a:r>
          </a:p>
          <a:p>
            <a:r>
              <a:rPr kumimoji="1"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                </a:t>
            </a:r>
            <a:r>
              <a:rPr kumimoji="1" lang="en-US" altLang="ko-K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MID MEST etc.</a:t>
            </a:r>
            <a:endParaRPr kumimoji="1" lang="ko-KR" altLang="ko-KR" sz="18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endParaRPr lang="ko-KR" altLang="en-US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pic>
        <p:nvPicPr>
          <p:cNvPr id="80" name="Picture 5">
            <a:extLst>
              <a:ext uri="{FF2B5EF4-FFF2-40B4-BE49-F238E27FC236}">
                <a16:creationId xmlns:a16="http://schemas.microsoft.com/office/drawing/2014/main" id="{FEBB43EB-42DD-4FC5-8B73-0091B8425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01" y="7612243"/>
            <a:ext cx="7902099" cy="1560417"/>
          </a:xfrm>
          <a:prstGeom prst="rect">
            <a:avLst/>
          </a:prstGeom>
          <a:effectLst>
            <a:outerShdw blurRad="146885" dir="5400000">
              <a:srgbClr val="CACACA">
                <a:alpha val="50000"/>
              </a:srgbClr>
            </a:outerShdw>
          </a:effectLst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FF89790B-AEEC-4796-8CAD-C15B8CCABEDE}"/>
              </a:ext>
            </a:extLst>
          </p:cNvPr>
          <p:cNvSpPr txBox="1"/>
          <p:nvPr/>
        </p:nvSpPr>
        <p:spPr>
          <a:xfrm>
            <a:off x="642234" y="7194845"/>
            <a:ext cx="1319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김영일 과장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CE3E228-01C6-4FFC-BCC9-D8F0AD13511D}"/>
              </a:ext>
            </a:extLst>
          </p:cNvPr>
          <p:cNvSpPr txBox="1"/>
          <p:nvPr/>
        </p:nvSpPr>
        <p:spPr>
          <a:xfrm>
            <a:off x="622607" y="7926389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 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기술경력 </a:t>
            </a:r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 2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0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년 </a:t>
            </a:r>
            <a:endParaRPr lang="en-US" altLang="ko-KR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주요업무 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: 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시운전 및 긴급 대응 부문 총괄</a:t>
            </a:r>
            <a:endParaRPr lang="en-US" altLang="ko-KR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</a:t>
            </a:r>
            <a:r>
              <a: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보유자격</a:t>
            </a:r>
            <a:r>
              <a:rPr lang="en-US" altLang="ko-KR" sz="18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 : </a:t>
            </a:r>
            <a:r>
              <a:rPr kumimoji="1" lang="en-US" altLang="ko-K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Engine System Troubleshooting etc. </a:t>
            </a:r>
            <a:endParaRPr kumimoji="1" lang="ko-KR" altLang="ko-KR" sz="18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  <a:p>
            <a:endParaRPr lang="ko-KR" altLang="en-US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5B111B8-F834-4B5A-B695-472CA03AF0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3090" y="2945537"/>
            <a:ext cx="8679928" cy="3399300"/>
          </a:xfrm>
          <a:prstGeom prst="rect">
            <a:avLst/>
          </a:prstGeom>
        </p:spPr>
      </p:pic>
      <p:sp>
        <p:nvSpPr>
          <p:cNvPr id="2" name="순서도: 연결자 1">
            <a:extLst>
              <a:ext uri="{FF2B5EF4-FFF2-40B4-BE49-F238E27FC236}">
                <a16:creationId xmlns:a16="http://schemas.microsoft.com/office/drawing/2014/main" id="{CE7C4B7D-3ADB-46FD-B5E9-E8BB45644869}"/>
              </a:ext>
            </a:extLst>
          </p:cNvPr>
          <p:cNvSpPr/>
          <p:nvPr/>
        </p:nvSpPr>
        <p:spPr>
          <a:xfrm>
            <a:off x="16392589" y="4435626"/>
            <a:ext cx="142811" cy="140706"/>
          </a:xfrm>
          <a:prstGeom prst="flowChartConnector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977485-B743-4BAD-B701-EA93FFCA2C6C}"/>
              </a:ext>
            </a:extLst>
          </p:cNvPr>
          <p:cNvSpPr txBox="1"/>
          <p:nvPr/>
        </p:nvSpPr>
        <p:spPr>
          <a:xfrm>
            <a:off x="9356181" y="8813867"/>
            <a:ext cx="9148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국내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A1B861-5F2D-4C49-BEB2-3458D54F2D07}"/>
              </a:ext>
            </a:extLst>
          </p:cNvPr>
          <p:cNvSpPr txBox="1"/>
          <p:nvPr/>
        </p:nvSpPr>
        <p:spPr>
          <a:xfrm>
            <a:off x="10258693" y="7359494"/>
            <a:ext cx="927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Peoria 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0B14E4-C104-4943-A176-7795B558D9DA}"/>
              </a:ext>
            </a:extLst>
          </p:cNvPr>
          <p:cNvSpPr txBox="1"/>
          <p:nvPr/>
        </p:nvSpPr>
        <p:spPr>
          <a:xfrm>
            <a:off x="11591059" y="7359494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Miami 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E59827-155B-4741-8EC0-395D2DB29EA1}"/>
              </a:ext>
            </a:extLst>
          </p:cNvPr>
          <p:cNvSpPr txBox="1"/>
          <p:nvPr/>
        </p:nvSpPr>
        <p:spPr>
          <a:xfrm>
            <a:off x="12838258" y="7361876"/>
            <a:ext cx="948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Malaga 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F3CF4B-F491-4208-BAB4-FF6D2D0A389C}"/>
              </a:ext>
            </a:extLst>
          </p:cNvPr>
          <p:cNvSpPr txBox="1"/>
          <p:nvPr/>
        </p:nvSpPr>
        <p:spPr>
          <a:xfrm>
            <a:off x="15284918" y="7366499"/>
            <a:ext cx="1319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Melbourne 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F44CD1-76BE-45BE-88C9-ED034593CA15}"/>
              </a:ext>
            </a:extLst>
          </p:cNvPr>
          <p:cNvSpPr txBox="1"/>
          <p:nvPr/>
        </p:nvSpPr>
        <p:spPr>
          <a:xfrm>
            <a:off x="14325600" y="7366499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Dubai 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394A4E-14DE-439A-AEBC-E629112D5CF0}"/>
              </a:ext>
            </a:extLst>
          </p:cNvPr>
          <p:cNvSpPr txBox="1"/>
          <p:nvPr/>
        </p:nvSpPr>
        <p:spPr>
          <a:xfrm>
            <a:off x="9353872" y="7364637"/>
            <a:ext cx="9148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i="0" dirty="0">
                <a:solidFill>
                  <a:srgbClr val="000000"/>
                </a:solidFill>
                <a:effectLst/>
                <a:latin typeface="서울남산체 B" panose="02020503020101020101" pitchFamily="18" charset="-127"/>
                <a:ea typeface="서울남산체 B" panose="02020503020101020101" pitchFamily="18" charset="-127"/>
              </a:rPr>
              <a:t>해외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1E9B53-138F-440A-BAC8-56C3BBEF3B36}"/>
              </a:ext>
            </a:extLst>
          </p:cNvPr>
          <p:cNvSpPr txBox="1"/>
          <p:nvPr/>
        </p:nvSpPr>
        <p:spPr>
          <a:xfrm>
            <a:off x="16230601" y="8803328"/>
            <a:ext cx="1228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Cheonan 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F78DC747-D590-4D94-99B8-93D2517AE591}"/>
              </a:ext>
            </a:extLst>
          </p:cNvPr>
          <p:cNvCxnSpPr>
            <a:cxnSpLocks/>
          </p:cNvCxnSpPr>
          <p:nvPr/>
        </p:nvCxnSpPr>
        <p:spPr>
          <a:xfrm rot="5400000">
            <a:off x="9554006" y="5508197"/>
            <a:ext cx="2867032" cy="524741"/>
          </a:xfrm>
          <a:prstGeom prst="bentConnector3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A6F5A5BB-E0B0-4B70-83C1-4A1DC177DBF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477405" y="5662093"/>
            <a:ext cx="2485348" cy="580160"/>
          </a:xfrm>
          <a:prstGeom prst="bentConnector3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B10383A-17C2-4DF2-9C8D-20038A7AA607}"/>
              </a:ext>
            </a:extLst>
          </p:cNvPr>
          <p:cNvCxnSpPr/>
          <p:nvPr/>
        </p:nvCxnSpPr>
        <p:spPr>
          <a:xfrm>
            <a:off x="13304980" y="4435626"/>
            <a:ext cx="0" cy="2768458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FDAA370-9B15-489E-B664-D2D3273B41C3}"/>
              </a:ext>
            </a:extLst>
          </p:cNvPr>
          <p:cNvCxnSpPr/>
          <p:nvPr/>
        </p:nvCxnSpPr>
        <p:spPr>
          <a:xfrm>
            <a:off x="14744700" y="4838700"/>
            <a:ext cx="0" cy="2356145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9B60464-1269-4206-B970-411281D64CBA}"/>
              </a:ext>
            </a:extLst>
          </p:cNvPr>
          <p:cNvCxnSpPr>
            <a:cxnSpLocks/>
          </p:cNvCxnSpPr>
          <p:nvPr/>
        </p:nvCxnSpPr>
        <p:spPr>
          <a:xfrm>
            <a:off x="15925800" y="5502579"/>
            <a:ext cx="0" cy="1692266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942B4EAE-29B8-4CA3-8D06-1EF50CA1BD6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567603" y="6449893"/>
            <a:ext cx="4171966" cy="382820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205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순서도: 연결자 109">
            <a:extLst>
              <a:ext uri="{FF2B5EF4-FFF2-40B4-BE49-F238E27FC236}">
                <a16:creationId xmlns:a16="http://schemas.microsoft.com/office/drawing/2014/main" id="{1D2C03C8-521A-46FF-A81A-0DF28CEF7795}"/>
              </a:ext>
            </a:extLst>
          </p:cNvPr>
          <p:cNvSpPr/>
          <p:nvPr/>
        </p:nvSpPr>
        <p:spPr>
          <a:xfrm>
            <a:off x="9632511" y="2150034"/>
            <a:ext cx="7920000" cy="7920000"/>
          </a:xfrm>
          <a:prstGeom prst="flowChartConnector">
            <a:avLst/>
          </a:prstGeom>
          <a:solidFill>
            <a:schemeClr val="bg1"/>
          </a:solidFill>
          <a:ln w="38100" cmpd="sng">
            <a:solidFill>
              <a:schemeClr val="accent6">
                <a:lumMod val="60000"/>
                <a:lumOff val="40000"/>
                <a:alpha val="75000"/>
              </a:schemeClr>
            </a:solidFill>
            <a:prstDash val="solid"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01A22A-1A17-433C-8324-9A3F10FD10CE}"/>
              </a:ext>
            </a:extLst>
          </p:cNvPr>
          <p:cNvSpPr/>
          <p:nvPr/>
        </p:nvSpPr>
        <p:spPr>
          <a:xfrm>
            <a:off x="2133600" y="0"/>
            <a:ext cx="16154400" cy="49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30E411-EC33-4BB7-88F2-09FE5C8F318B}"/>
              </a:ext>
            </a:extLst>
          </p:cNvPr>
          <p:cNvSpPr/>
          <p:nvPr/>
        </p:nvSpPr>
        <p:spPr>
          <a:xfrm>
            <a:off x="-13254" y="0"/>
            <a:ext cx="2985054" cy="4953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9C925BD-F636-431E-9035-4600284A30CD}"/>
              </a:ext>
            </a:extLst>
          </p:cNvPr>
          <p:cNvSpPr txBox="1"/>
          <p:nvPr/>
        </p:nvSpPr>
        <p:spPr>
          <a:xfrm>
            <a:off x="685800" y="825501"/>
            <a:ext cx="170307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200" dirty="0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최적의 파트너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10913B-1099-4FD7-9FA0-2C3366B028A0}"/>
              </a:ext>
            </a:extLst>
          </p:cNvPr>
          <p:cNvSpPr txBox="1"/>
          <p:nvPr/>
        </p:nvSpPr>
        <p:spPr>
          <a:xfrm>
            <a:off x="669235" y="1720336"/>
            <a:ext cx="9148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Why Samsun Engineering?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3DB684D-91FF-489E-B56F-6F1C72C4E6BB}"/>
              </a:ext>
            </a:extLst>
          </p:cNvPr>
          <p:cNvSpPr/>
          <p:nvPr/>
        </p:nvSpPr>
        <p:spPr>
          <a:xfrm>
            <a:off x="735489" y="2140398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8D5731-212E-4F9A-BBB5-F6F931FC0F12}"/>
              </a:ext>
            </a:extLst>
          </p:cNvPr>
          <p:cNvSpPr txBox="1"/>
          <p:nvPr/>
        </p:nvSpPr>
        <p:spPr>
          <a:xfrm>
            <a:off x="9525000" y="1713318"/>
            <a:ext cx="9148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고객사 </a:t>
            </a:r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(Customers)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7AD7FCA-0322-4694-A102-322EFD7DE31E}"/>
              </a:ext>
            </a:extLst>
          </p:cNvPr>
          <p:cNvSpPr/>
          <p:nvPr/>
        </p:nvSpPr>
        <p:spPr>
          <a:xfrm>
            <a:off x="9601444" y="2103854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55DF7AE-88E7-4291-8180-EE76DAD7A1D2}"/>
              </a:ext>
            </a:extLst>
          </p:cNvPr>
          <p:cNvGrpSpPr/>
          <p:nvPr/>
        </p:nvGrpSpPr>
        <p:grpSpPr>
          <a:xfrm>
            <a:off x="605327" y="3424095"/>
            <a:ext cx="9218535" cy="6033795"/>
            <a:chOff x="646050" y="3009900"/>
            <a:chExt cx="9218535" cy="6033795"/>
          </a:xfrm>
        </p:grpSpPr>
        <p:pic>
          <p:nvPicPr>
            <p:cNvPr id="35" name="Picture 10">
              <a:extLst>
                <a:ext uri="{FF2B5EF4-FFF2-40B4-BE49-F238E27FC236}">
                  <a16:creationId xmlns:a16="http://schemas.microsoft.com/office/drawing/2014/main" id="{7D447583-20BC-4DB9-920C-CC7B675967B6}"/>
                </a:ext>
              </a:extLst>
            </p:cNvPr>
            <p:cNvPicPr>
              <a:picLocks/>
            </p:cNvPicPr>
            <p:nvPr/>
          </p:nvPicPr>
          <p:blipFill>
            <a:blip r:embed="rId3">
              <a:biLevel thresh="75000"/>
            </a:blip>
            <a:stretch>
              <a:fillRect/>
            </a:stretch>
          </p:blipFill>
          <p:spPr>
            <a:xfrm>
              <a:off x="685800" y="3009900"/>
              <a:ext cx="7920000" cy="7035"/>
            </a:xfrm>
            <a:prstGeom prst="rect">
              <a:avLst/>
            </a:prstGeom>
          </p:spPr>
        </p:pic>
        <p:pic>
          <p:nvPicPr>
            <p:cNvPr id="36" name="Picture 10">
              <a:extLst>
                <a:ext uri="{FF2B5EF4-FFF2-40B4-BE49-F238E27FC236}">
                  <a16:creationId xmlns:a16="http://schemas.microsoft.com/office/drawing/2014/main" id="{4285F75B-9FEB-4636-8FDB-B9B03E95051F}"/>
                </a:ext>
              </a:extLst>
            </p:cNvPr>
            <p:cNvPicPr>
              <a:picLocks/>
            </p:cNvPicPr>
            <p:nvPr/>
          </p:nvPicPr>
          <p:blipFill>
            <a:blip r:embed="rId3">
              <a:biLevel thresh="75000"/>
            </a:blip>
            <a:stretch>
              <a:fillRect/>
            </a:stretch>
          </p:blipFill>
          <p:spPr>
            <a:xfrm>
              <a:off x="685800" y="5057196"/>
              <a:ext cx="7920000" cy="6395"/>
            </a:xfrm>
            <a:prstGeom prst="rect">
              <a:avLst/>
            </a:prstGeom>
          </p:spPr>
        </p:pic>
        <p:pic>
          <p:nvPicPr>
            <p:cNvPr id="37" name="Picture 10">
              <a:extLst>
                <a:ext uri="{FF2B5EF4-FFF2-40B4-BE49-F238E27FC236}">
                  <a16:creationId xmlns:a16="http://schemas.microsoft.com/office/drawing/2014/main" id="{F8ABB5B6-4F4C-4451-A176-1E4EAAF3CD45}"/>
                </a:ext>
              </a:extLst>
            </p:cNvPr>
            <p:cNvPicPr>
              <a:picLocks/>
            </p:cNvPicPr>
            <p:nvPr/>
          </p:nvPicPr>
          <p:blipFill>
            <a:blip r:embed="rId3">
              <a:biLevel thresh="75000"/>
            </a:blip>
            <a:stretch>
              <a:fillRect/>
            </a:stretch>
          </p:blipFill>
          <p:spPr>
            <a:xfrm>
              <a:off x="646050" y="7100654"/>
              <a:ext cx="7920000" cy="6395"/>
            </a:xfrm>
            <a:prstGeom prst="rect">
              <a:avLst/>
            </a:prstGeom>
          </p:spPr>
        </p:pic>
        <p:pic>
          <p:nvPicPr>
            <p:cNvPr id="38" name="Picture 10">
              <a:extLst>
                <a:ext uri="{FF2B5EF4-FFF2-40B4-BE49-F238E27FC236}">
                  <a16:creationId xmlns:a16="http://schemas.microsoft.com/office/drawing/2014/main" id="{2FF19676-43B1-462D-8B9B-03E3D11DDA1D}"/>
                </a:ext>
              </a:extLst>
            </p:cNvPr>
            <p:cNvPicPr>
              <a:picLocks/>
            </p:cNvPicPr>
            <p:nvPr/>
          </p:nvPicPr>
          <p:blipFill>
            <a:blip r:embed="rId3">
              <a:biLevel thresh="75000"/>
            </a:blip>
            <a:stretch>
              <a:fillRect/>
            </a:stretch>
          </p:blipFill>
          <p:spPr>
            <a:xfrm>
              <a:off x="715617" y="9037300"/>
              <a:ext cx="7920000" cy="6395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8749366-9E0C-4543-8CC2-5C6EE07B5A1F}"/>
                </a:ext>
              </a:extLst>
            </p:cNvPr>
            <p:cNvSpPr txBox="1"/>
            <p:nvPr/>
          </p:nvSpPr>
          <p:spPr>
            <a:xfrm>
              <a:off x="695739" y="3116042"/>
              <a:ext cx="91489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1. High Quality &amp; Cost Competitiveness</a:t>
              </a:r>
              <a:endPara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F648F6-992B-4C56-9817-9D56E19E865E}"/>
                </a:ext>
              </a:extLst>
            </p:cNvPr>
            <p:cNvSpPr txBox="1"/>
            <p:nvPr/>
          </p:nvSpPr>
          <p:spPr>
            <a:xfrm>
              <a:off x="965739" y="3500923"/>
              <a:ext cx="760511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b="1" dirty="0">
                  <a:solidFill>
                    <a:schemeClr val="accent2">
                      <a:lumMod val="75000"/>
                    </a:schemeClr>
                  </a:solidFill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정품 부품 기반의 고품질 서비스 제공 및 합리적인 단가 유지</a:t>
              </a:r>
              <a:endParaRPr lang="en-US" altLang="ko-KR" b="1" dirty="0">
                <a:solidFill>
                  <a:schemeClr val="accent2">
                    <a:lumMod val="75000"/>
                  </a:schemeClr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endParaRPr>
            </a:p>
            <a:p>
              <a:pPr algn="just"/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삼선엔지니어링은 브랜드별 공식 인증 부품을 사용하여 고품질의 정비 서비스를 제공합니다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. </a:t>
              </a: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또한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, </a:t>
              </a: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자체 직영 인력 운영과 주요 비즈니스 </a:t>
              </a:r>
              <a:r>
                <a:rPr lang="ko-KR" altLang="en-US" dirty="0" err="1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파트너들과의</a:t>
              </a: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 안정적인 협력 네트워크를 기반으로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, </a:t>
              </a: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효율적인 자재 수급과 원가 절감을 실현함으로써 업계 대비 높은 가격 경쟁력을 확보하고 있습니다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.</a:t>
              </a:r>
              <a:endParaRPr lang="ko-KR" altLang="en-US" dirty="0">
                <a:latin typeface="서울남산체 B" panose="02020503020101020101" pitchFamily="18" charset="-127"/>
                <a:ea typeface="서울남산체 B" panose="02020503020101020101" pitchFamily="18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4FB0E9F-EA85-415E-AFEE-8B6AE62093D2}"/>
                </a:ext>
              </a:extLst>
            </p:cNvPr>
            <p:cNvSpPr txBox="1"/>
            <p:nvPr/>
          </p:nvSpPr>
          <p:spPr>
            <a:xfrm>
              <a:off x="715617" y="5143166"/>
              <a:ext cx="91489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2. Technical Agility &amp; Rapid Response to Any Customer Need</a:t>
              </a:r>
              <a:endPara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1C2F84F-D505-45F3-9689-30C3DF6F7316}"/>
                </a:ext>
              </a:extLst>
            </p:cNvPr>
            <p:cNvSpPr txBox="1"/>
            <p:nvPr/>
          </p:nvSpPr>
          <p:spPr>
            <a:xfrm>
              <a:off x="965739" y="5541805"/>
              <a:ext cx="760031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ko-KR" altLang="en-US" b="1" dirty="0">
                  <a:solidFill>
                    <a:schemeClr val="accent2">
                      <a:lumMod val="75000"/>
                    </a:schemeClr>
                  </a:solidFill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고객사 환경에 최적화된 맞춤형 기술 대응과 </a:t>
              </a:r>
              <a:r>
                <a:rPr lang="en-US" altLang="ko-KR" b="1" dirty="0">
                  <a:solidFill>
                    <a:schemeClr val="accent2">
                      <a:lumMod val="75000"/>
                    </a:schemeClr>
                  </a:solidFill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1</a:t>
              </a:r>
              <a:r>
                <a:rPr lang="ko-KR" altLang="en-US" b="1" dirty="0">
                  <a:solidFill>
                    <a:schemeClr val="accent2">
                      <a:lumMod val="75000"/>
                    </a:schemeClr>
                  </a:solidFill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시간 이내 긴급 출동 체계 확보</a:t>
              </a:r>
              <a:b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</a:b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기계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·</a:t>
              </a: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전기 부문 전문 엔지니어가 상시 대기하며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, </a:t>
              </a: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전자식 및 기계식 엔진을 포함한 전 발전기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·</a:t>
              </a: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엔진 유형에 대한 정비 및 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Trouble-shooting</a:t>
              </a: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이 가능합니다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.</a:t>
              </a: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 이를 통해 고객사 환경에 맞춘 맞춤형 기술 대응은 물론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, </a:t>
              </a: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긴급 상황 발생 시 평균 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1</a:t>
              </a: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시간 이내 출동이 가능한 대응 체계를 갖추고 있습니다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.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6097B73-9FDE-4D41-82F1-70BE54DF54E7}"/>
                </a:ext>
              </a:extLst>
            </p:cNvPr>
            <p:cNvSpPr txBox="1"/>
            <p:nvPr/>
          </p:nvSpPr>
          <p:spPr>
            <a:xfrm>
              <a:off x="685800" y="7208391"/>
              <a:ext cx="914896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3. Trusted by Korea’s Leading Corporations and Public Sector </a:t>
              </a:r>
              <a:endParaRPr lang="ko-KR" altLang="en-US" b="1" dirty="0">
                <a:latin typeface="서울남산체 B" panose="02020503020101020101" pitchFamily="18" charset="-127"/>
                <a:ea typeface="서울남산체 B" panose="02020503020101020101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2553A6F-C341-40F3-8A48-91E3C54207B2}"/>
                </a:ext>
              </a:extLst>
            </p:cNvPr>
            <p:cNvSpPr txBox="1"/>
            <p:nvPr/>
          </p:nvSpPr>
          <p:spPr>
            <a:xfrm>
              <a:off x="945863" y="7707476"/>
              <a:ext cx="764006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ko-KR" altLang="en-US" b="1" dirty="0">
                  <a:solidFill>
                    <a:schemeClr val="accent2">
                      <a:lumMod val="75000"/>
                    </a:schemeClr>
                  </a:solidFill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국내 유수 대기업 및 관공서와 장기 계약을 유지해 온 검증된 신뢰 파트너</a:t>
              </a:r>
              <a:b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</a:b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포스코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, </a:t>
              </a: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한화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, LG, </a:t>
              </a: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롯데 등 다수의 대기업 및 주요 관공서와 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35</a:t>
              </a:r>
              <a:r>
                <a:rPr lang="ko-KR" altLang="en-US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년간 안정적 파트너십을 이어오며 축적된 실적과 신뢰도는 삼선엔지니어링의 가장 큰 자산입니다</a:t>
              </a:r>
              <a:r>
                <a:rPr lang="en-US" altLang="ko-KR" dirty="0">
                  <a:latin typeface="서울남산체 B" panose="02020503020101020101" pitchFamily="18" charset="-127"/>
                  <a:ea typeface="서울남산체 B" panose="02020503020101020101" pitchFamily="18" charset="-127"/>
                </a:rPr>
                <a:t>.</a:t>
              </a:r>
              <a:endParaRPr lang="ko-KR" altLang="en-US" dirty="0">
                <a:latin typeface="서울남산체 B" panose="02020503020101020101" pitchFamily="18" charset="-127"/>
                <a:ea typeface="서울남산체 B" panose="02020503020101020101" pitchFamily="18" charset="-127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137B2009-E0C6-4192-AF9E-0E7E76BDCE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6782" y="7726078"/>
            <a:ext cx="1861720" cy="432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CEAA0D4-38CE-4BB2-83A2-896A708D97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9832" y="3909275"/>
            <a:ext cx="1373311" cy="46800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2223680-D6E0-4A5E-9020-BBC2EE686B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639" y="4426455"/>
            <a:ext cx="1448084" cy="79200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1C895152-75E6-46D6-A846-F3670554AC4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4512" y="2567875"/>
            <a:ext cx="1693408" cy="36000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C93E6F17-A001-4C22-961F-BC14268BDDF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4740" y="3595431"/>
            <a:ext cx="948984" cy="432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63AE81A2-2931-4A08-BAB2-C41DCF3536E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4839" y="6943669"/>
            <a:ext cx="1489092" cy="4680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74A83C9D-8115-434E-BB9C-47F78428BEA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6202" y="5865513"/>
            <a:ext cx="1378583" cy="360000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BD5620D3-2A8E-4E4A-92D4-AFF20CB7E3F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1580" y="5201631"/>
            <a:ext cx="697617" cy="36000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D2C38DB-0492-470F-AAAD-582DE4C3460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012" y="6030244"/>
            <a:ext cx="1513886" cy="468000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5A2E562A-B33F-41CE-A34C-97C66C2BB14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2767" y="4161275"/>
            <a:ext cx="1545000" cy="432000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FEDE9007-CA86-4AB1-B9E0-370986072F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2709" y="3603671"/>
            <a:ext cx="2368421" cy="36000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E9688B7E-3BD2-4A66-A00D-10D5B367D553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149" y="6674822"/>
            <a:ext cx="2047869" cy="431999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E187E8D8-2DCC-4C6F-8825-1F0DAE69AA8B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5659" y="7066258"/>
            <a:ext cx="1968750" cy="360000"/>
          </a:xfrm>
          <a:prstGeom prst="rect">
            <a:avLst/>
          </a:prstGeom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839803B3-EFD0-4941-921E-7D65E49AAF9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7774" y="8439416"/>
            <a:ext cx="2312542" cy="360000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E90EEB4F-0A88-4EFD-AC5E-DC8A7D0C1B6A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818" y="4556150"/>
            <a:ext cx="776662" cy="756000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7B088819-9D2B-46CC-B115-094DD5B82718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6919" y="9074428"/>
            <a:ext cx="1232727" cy="720000"/>
          </a:xfrm>
          <a:prstGeom prst="rect">
            <a:avLst/>
          </a:prstGeom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E4DC2AF1-30B6-4161-9032-9E55871A7859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0919" y="7782369"/>
            <a:ext cx="1019804" cy="432000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4C9284D5-9B88-4CD3-836D-A0319D90509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719" y="9038725"/>
            <a:ext cx="1482353" cy="432000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BD429696-F998-430F-8214-C6F3E06D5A24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0593" y="7626627"/>
            <a:ext cx="893816" cy="684000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D4E89394-8D63-49FB-AC24-582D529CE9D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898" y="3013004"/>
            <a:ext cx="1602720" cy="504000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3BB5DA26-DD93-4EED-9A27-851A158C1365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976" y="5664270"/>
            <a:ext cx="1679586" cy="396000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09C97650-5720-4EE1-B64A-64261675B5BB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9484" y="4374460"/>
            <a:ext cx="1960839" cy="396000"/>
          </a:xfrm>
          <a:prstGeom prst="rect">
            <a:avLst/>
          </a:prstGeom>
        </p:spPr>
      </p:pic>
      <p:pic>
        <p:nvPicPr>
          <p:cNvPr id="103" name="그림 102">
            <a:extLst>
              <a:ext uri="{FF2B5EF4-FFF2-40B4-BE49-F238E27FC236}">
                <a16:creationId xmlns:a16="http://schemas.microsoft.com/office/drawing/2014/main" id="{1D3A362E-AE4D-4C0E-8FE6-4C7727E2FEEF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1892" y="6032528"/>
            <a:ext cx="739375" cy="576000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971EAFD4-6F42-4427-85D1-611FCDB15478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5267" y="5040064"/>
            <a:ext cx="1468437" cy="432000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2E398933-D633-43CB-B845-C76B306AB0E5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5552" y="4957730"/>
            <a:ext cx="1859010" cy="432000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35267FE3-E1EA-4C4D-9ED7-C33E27EA4609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124" y="7289781"/>
            <a:ext cx="1890000" cy="360000"/>
          </a:xfrm>
          <a:prstGeom prst="rect">
            <a:avLst/>
          </a:prstGeom>
        </p:spPr>
      </p:pic>
      <p:pic>
        <p:nvPicPr>
          <p:cNvPr id="101" name="그림 100">
            <a:extLst>
              <a:ext uri="{FF2B5EF4-FFF2-40B4-BE49-F238E27FC236}">
                <a16:creationId xmlns:a16="http://schemas.microsoft.com/office/drawing/2014/main" id="{5641D422-1168-433D-AD5D-87491B183B76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7920" y="2833004"/>
            <a:ext cx="1086820" cy="432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4AB35D8-D2E3-4496-9A67-5F965EEA4D8C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9753" y="6307885"/>
            <a:ext cx="2166172" cy="46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8BC3FC5-1D90-48C5-A038-ACE629E8D006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6782" y="8516945"/>
            <a:ext cx="1438275" cy="47625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E2D49D4-6944-485F-9B15-FF0F69298018}"/>
              </a:ext>
            </a:extLst>
          </p:cNvPr>
          <p:cNvSpPr txBox="1"/>
          <p:nvPr/>
        </p:nvSpPr>
        <p:spPr>
          <a:xfrm>
            <a:off x="628109" y="2374600"/>
            <a:ext cx="82338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삼선엔지니어링은 기술</a:t>
            </a:r>
            <a:r>
              <a:rPr lang="en-US" altLang="ko-KR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품질</a:t>
            </a:r>
            <a:r>
              <a:rPr lang="en-US" altLang="ko-KR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신뢰를 기반으로</a:t>
            </a:r>
            <a:r>
              <a:rPr lang="en-US" altLang="ko-KR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, </a:t>
            </a:r>
            <a:r>
              <a:rPr lang="ko-KR" altLang="en-US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전 주기 발전기</a:t>
            </a:r>
            <a:r>
              <a:rPr lang="en-US" altLang="ko-KR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·</a:t>
            </a:r>
            <a:r>
              <a:rPr lang="ko-KR" altLang="en-US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엔진 솔루션을 제공하는 최고의 파트너입니다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4A65A2-DB2B-4099-882D-CBD10C1F524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1738" y="6404190"/>
            <a:ext cx="1492364" cy="432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ED7BBEF-19B4-49A3-9630-473E7F066364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730" y="8489729"/>
            <a:ext cx="1302128" cy="360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6CD5B43-7878-4DFE-B986-8E4E15812A5B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033" y="5484270"/>
            <a:ext cx="1661538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183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01A22A-1A17-433C-8324-9A3F10FD10CE}"/>
              </a:ext>
            </a:extLst>
          </p:cNvPr>
          <p:cNvSpPr/>
          <p:nvPr/>
        </p:nvSpPr>
        <p:spPr>
          <a:xfrm>
            <a:off x="2133600" y="0"/>
            <a:ext cx="16154400" cy="49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30E411-EC33-4BB7-88F2-09FE5C8F318B}"/>
              </a:ext>
            </a:extLst>
          </p:cNvPr>
          <p:cNvSpPr/>
          <p:nvPr/>
        </p:nvSpPr>
        <p:spPr>
          <a:xfrm>
            <a:off x="-13254" y="0"/>
            <a:ext cx="2985054" cy="4953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9C925BD-F636-431E-9035-4600284A30CD}"/>
              </a:ext>
            </a:extLst>
          </p:cNvPr>
          <p:cNvSpPr txBox="1"/>
          <p:nvPr/>
        </p:nvSpPr>
        <p:spPr>
          <a:xfrm>
            <a:off x="685800" y="825501"/>
            <a:ext cx="170307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4200" dirty="0">
                <a:latin typeface="서울남산 장체 BL" panose="02020503020101020101" pitchFamily="18" charset="-127"/>
                <a:ea typeface="서울남산 장체 BL" panose="02020503020101020101" pitchFamily="18" charset="-127"/>
              </a:rPr>
              <a:t>주요 인증서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10913B-1099-4FD7-9FA0-2C3366B028A0}"/>
              </a:ext>
            </a:extLst>
          </p:cNvPr>
          <p:cNvSpPr txBox="1"/>
          <p:nvPr/>
        </p:nvSpPr>
        <p:spPr>
          <a:xfrm>
            <a:off x="665922" y="3782153"/>
            <a:ext cx="9148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품질 </a:t>
            </a:r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/ </a:t>
            </a:r>
            <a:r>
              <a:rPr lang="ko-KR" altLang="en-US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환경 </a:t>
            </a:r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/ </a:t>
            </a:r>
            <a:r>
              <a:rPr lang="ko-KR" altLang="en-US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안전인증 </a:t>
            </a:r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(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Quality / Environmental / Safety Certifications)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3DB684D-91FF-489E-B56F-6F1C72C4E6BB}"/>
              </a:ext>
            </a:extLst>
          </p:cNvPr>
          <p:cNvSpPr/>
          <p:nvPr/>
        </p:nvSpPr>
        <p:spPr>
          <a:xfrm>
            <a:off x="732176" y="4202215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55C805-E714-4F71-ACFA-28C7C92734CD}"/>
              </a:ext>
            </a:extLst>
          </p:cNvPr>
          <p:cNvSpPr txBox="1"/>
          <p:nvPr/>
        </p:nvSpPr>
        <p:spPr>
          <a:xfrm>
            <a:off x="665922" y="7657133"/>
            <a:ext cx="9148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특허 </a:t>
            </a:r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/ </a:t>
            </a:r>
            <a:r>
              <a:rPr lang="ko-KR" altLang="en-US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산업재산권 </a:t>
            </a:r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(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Patents / Intellectual Property Rights)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F90DD3A-768A-4527-9C53-D2358508FB0E}"/>
              </a:ext>
            </a:extLst>
          </p:cNvPr>
          <p:cNvSpPr/>
          <p:nvPr/>
        </p:nvSpPr>
        <p:spPr>
          <a:xfrm>
            <a:off x="748991" y="8081833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BF418D87-D68F-4D0E-9FA4-C82E34B60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265785"/>
              </p:ext>
            </p:extLst>
          </p:nvPr>
        </p:nvGraphicFramePr>
        <p:xfrm>
          <a:off x="665921" y="4378817"/>
          <a:ext cx="17030701" cy="2966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22588">
                  <a:extLst>
                    <a:ext uri="{9D8B030D-6E8A-4147-A177-3AD203B41FA5}">
                      <a16:colId xmlns:a16="http://schemas.microsoft.com/office/drawing/2014/main" val="817639923"/>
                    </a:ext>
                  </a:extLst>
                </a:gridCol>
                <a:gridCol w="1756378">
                  <a:extLst>
                    <a:ext uri="{9D8B030D-6E8A-4147-A177-3AD203B41FA5}">
                      <a16:colId xmlns:a16="http://schemas.microsoft.com/office/drawing/2014/main" val="294274172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48224706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555448643"/>
                    </a:ext>
                  </a:extLst>
                </a:gridCol>
                <a:gridCol w="9089335">
                  <a:extLst>
                    <a:ext uri="{9D8B030D-6E8A-4147-A177-3AD203B41FA5}">
                      <a16:colId xmlns:a16="http://schemas.microsoft.com/office/drawing/2014/main" val="3730480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인증명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인증번호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인증기관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유효기간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324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ISO 9001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GQ-211254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GERMAN CERT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2026.05.14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육해상용 디젤엔진 및 비상용 발전기의 제조</a:t>
                      </a: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판매 및 수리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9810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ISO 14001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GE-210491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GERMAN CERT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2026.05.14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육해상용 디젤엔진 및 비상용 발전기의 제조</a:t>
                      </a: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판매 및 수리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6445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ISO 45001 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GO-251038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GERMAN CERT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2028.08.28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육해상용 디젤엔진 및 비상용 발전기의 제조</a:t>
                      </a: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판매</a:t>
                      </a: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수리</a:t>
                      </a: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 </a:t>
                      </a: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및 전기공사의 시공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4776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공장등록증명서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31114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한국산업단지공단이사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-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생산설비</a:t>
                      </a: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점검장비</a:t>
                      </a: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부품보관창고 등을 포함한 정비 및 제조 기능을 갖춘 등록 공장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777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CLEAN</a:t>
                      </a: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사업장 인증서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제 </a:t>
                      </a: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43,527 </a:t>
                      </a: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고용노동부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-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유해요인 제거 및 쾌적하고 안전한 작업환경 구축을 인정받은 사업장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524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SHA Rating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S4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NICE</a:t>
                      </a:r>
                      <a:r>
                        <a:rPr lang="ko-KR" altLang="en-US" dirty="0" err="1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디앤비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-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안전보건경영체제 운영 및 활동을 위한 양호한 수준의 안전역량을 보유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8440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전기공사업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전남</a:t>
                      </a: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-02289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전라남도청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-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비상발전기 및 관련 전기설비의 시공</a:t>
                      </a: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배선</a:t>
                      </a: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시운전 등 전기공사업법에 따른 전기공사 수행 가능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91498053"/>
                  </a:ext>
                </a:extLst>
              </a:tr>
            </a:tbl>
          </a:graphicData>
        </a:graphic>
      </p:graphicFrame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2D8E686C-3F90-4FE6-990A-A7F8845A5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987733"/>
              </p:ext>
            </p:extLst>
          </p:nvPr>
        </p:nvGraphicFramePr>
        <p:xfrm>
          <a:off x="655981" y="8267700"/>
          <a:ext cx="17014135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39619">
                  <a:extLst>
                    <a:ext uri="{9D8B030D-6E8A-4147-A177-3AD203B41FA5}">
                      <a16:colId xmlns:a16="http://schemas.microsoft.com/office/drawing/2014/main" val="417168284"/>
                    </a:ext>
                  </a:extLst>
                </a:gridCol>
                <a:gridCol w="2857501">
                  <a:extLst>
                    <a:ext uri="{9D8B030D-6E8A-4147-A177-3AD203B41FA5}">
                      <a16:colId xmlns:a16="http://schemas.microsoft.com/office/drawing/2014/main" val="506242493"/>
                    </a:ext>
                  </a:extLst>
                </a:gridCol>
                <a:gridCol w="2857501">
                  <a:extLst>
                    <a:ext uri="{9D8B030D-6E8A-4147-A177-3AD203B41FA5}">
                      <a16:colId xmlns:a16="http://schemas.microsoft.com/office/drawing/2014/main" val="3485096110"/>
                    </a:ext>
                  </a:extLst>
                </a:gridCol>
                <a:gridCol w="9059514">
                  <a:extLst>
                    <a:ext uri="{9D8B030D-6E8A-4147-A177-3AD203B41FA5}">
                      <a16:colId xmlns:a16="http://schemas.microsoft.com/office/drawing/2014/main" val="882266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인증번호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취득일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297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특허권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제 </a:t>
                      </a: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10-1689014</a:t>
                      </a: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2016.12.16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산업용 발전기의 운전 초기 매연 감소를 위한 소음기 겸용 집진장치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053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특허권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제 </a:t>
                      </a: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10-1902987</a:t>
                      </a: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2018.09.20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석유화학시설의 냉각탑에서 배출되는 폐부동액의 재생방법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3006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뿌리기업 확인서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제 </a:t>
                      </a: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25122-27553</a:t>
                      </a: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2025.08.05</a:t>
                      </a:r>
                      <a:endParaRPr lang="ko-KR" altLang="en-US" dirty="0"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국가가 지정한 제조업 핵심 기술 보유 기업으로</a:t>
                      </a:r>
                      <a:r>
                        <a:rPr lang="en-US" altLang="ko-KR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전문성과 신뢰성을 공식 인정받음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262099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91C68994-4D12-455F-AA99-1D07807E6543}"/>
              </a:ext>
            </a:extLst>
          </p:cNvPr>
          <p:cNvSpPr txBox="1"/>
          <p:nvPr/>
        </p:nvSpPr>
        <p:spPr>
          <a:xfrm>
            <a:off x="655981" y="1762677"/>
            <a:ext cx="9148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기본자격 증명 </a:t>
            </a:r>
            <a:r>
              <a:rPr lang="en-US" altLang="ko-KR" b="1" dirty="0">
                <a:solidFill>
                  <a:srgbClr val="0000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(</a:t>
            </a:r>
            <a:r>
              <a:rPr lang="en-US" altLang="ko-KR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Basic Qualification Documents)</a:t>
            </a:r>
            <a:endParaRPr lang="en-US" altLang="ko-KR" b="1" i="0" dirty="0">
              <a:solidFill>
                <a:srgbClr val="000000"/>
              </a:solidFill>
              <a:effectLst/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259B774-EF2E-4143-B3F1-BE86FBD044DD}"/>
              </a:ext>
            </a:extLst>
          </p:cNvPr>
          <p:cNvSpPr/>
          <p:nvPr/>
        </p:nvSpPr>
        <p:spPr>
          <a:xfrm>
            <a:off x="722235" y="2182739"/>
            <a:ext cx="540000" cy="720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서울남산 장체 BL" panose="02020503020101020101" pitchFamily="18" charset="-127"/>
              <a:ea typeface="서울남산 장체 BL" panose="02020503020101020101" pitchFamily="18" charset="-127"/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A54F1C65-8FCB-404F-8521-D8D096BF2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81115"/>
              </p:ext>
            </p:extLst>
          </p:nvPr>
        </p:nvGraphicFramePr>
        <p:xfrm>
          <a:off x="655981" y="2358038"/>
          <a:ext cx="6278219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239619">
                  <a:extLst>
                    <a:ext uri="{9D8B030D-6E8A-4147-A177-3AD203B41FA5}">
                      <a16:colId xmlns:a16="http://schemas.microsoft.com/office/drawing/2014/main" val="173095282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1244379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등록번호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60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사업자등록증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417-81-26338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898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중소기업확인서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서울남산체 B" panose="02020503020101020101" pitchFamily="18" charset="-127"/>
                          <a:ea typeface="서울남산체 B" panose="02020503020101020101" pitchFamily="18" charset="-127"/>
                        </a:rPr>
                        <a:t>0010-2024-238441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서울남산체 B" panose="02020503020101020101" pitchFamily="18" charset="-127"/>
                        <a:ea typeface="서울남산체 B" panose="020205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0797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8651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30E411-EC33-4BB7-88F2-09FE5C8F318B}"/>
              </a:ext>
            </a:extLst>
          </p:cNvPr>
          <p:cNvSpPr/>
          <p:nvPr/>
        </p:nvSpPr>
        <p:spPr>
          <a:xfrm>
            <a:off x="0" y="9791700"/>
            <a:ext cx="9157254" cy="49530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201A22A-1A17-433C-8324-9A3F10FD10CE}"/>
              </a:ext>
            </a:extLst>
          </p:cNvPr>
          <p:cNvSpPr/>
          <p:nvPr/>
        </p:nvSpPr>
        <p:spPr>
          <a:xfrm>
            <a:off x="9157254" y="9793909"/>
            <a:ext cx="9144000" cy="49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099B61-B166-4DAF-B075-2C472E1FACCB}"/>
              </a:ext>
            </a:extLst>
          </p:cNvPr>
          <p:cNvSpPr txBox="1"/>
          <p:nvPr/>
        </p:nvSpPr>
        <p:spPr>
          <a:xfrm>
            <a:off x="9139032" y="3598948"/>
            <a:ext cx="91489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With </a:t>
            </a:r>
            <a:r>
              <a:rPr lang="en-US" altLang="ko-KR" sz="44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Passion</a:t>
            </a:r>
            <a:r>
              <a:rPr lang="en-US" altLang="ko-KR" sz="4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, We </a:t>
            </a:r>
            <a:r>
              <a:rPr lang="en-US" altLang="ko-KR" sz="4400" b="1" dirty="0">
                <a:solidFill>
                  <a:srgbClr val="FFC4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Challenge</a:t>
            </a:r>
            <a:endParaRPr lang="ko-KR" altLang="en-US" sz="4400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177B6-7290-4E2E-AFBE-B876B0E49880}"/>
              </a:ext>
            </a:extLst>
          </p:cNvPr>
          <p:cNvSpPr txBox="1"/>
          <p:nvPr/>
        </p:nvSpPr>
        <p:spPr>
          <a:xfrm>
            <a:off x="9596232" y="4443858"/>
            <a:ext cx="91489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With </a:t>
            </a:r>
            <a:r>
              <a:rPr lang="en-US" altLang="ko-KR" sz="44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Creativity</a:t>
            </a:r>
            <a:r>
              <a:rPr lang="en-US" altLang="ko-KR" sz="4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, We </a:t>
            </a:r>
            <a:r>
              <a:rPr lang="en-US" altLang="ko-KR" sz="4400" b="1" dirty="0">
                <a:solidFill>
                  <a:srgbClr val="00B0F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Innovate</a:t>
            </a:r>
            <a:endParaRPr lang="ko-KR" altLang="en-US" sz="4400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7188D2-7F6C-4B88-995B-F225756BD5B4}"/>
              </a:ext>
            </a:extLst>
          </p:cNvPr>
          <p:cNvSpPr txBox="1"/>
          <p:nvPr/>
        </p:nvSpPr>
        <p:spPr>
          <a:xfrm>
            <a:off x="10038524" y="5288768"/>
            <a:ext cx="914896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With </a:t>
            </a:r>
            <a:r>
              <a:rPr lang="en-US" altLang="ko-KR" sz="4400" b="1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Trust</a:t>
            </a:r>
            <a:r>
              <a:rPr lang="en-US" altLang="ko-KR" sz="44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, We </a:t>
            </a:r>
            <a:r>
              <a:rPr lang="en-US" altLang="ko-KR" sz="4400" b="1" dirty="0">
                <a:solidFill>
                  <a:srgbClr val="FF66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Grow Together</a:t>
            </a:r>
            <a:endParaRPr lang="ko-KR" altLang="en-US" sz="4400" b="1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50E72DF-1D6B-42DF-B82A-C053C20DB6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660382"/>
            <a:ext cx="5334000" cy="23363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B10930-BABC-4CCC-8562-28EC5B213EA5}"/>
              </a:ext>
            </a:extLst>
          </p:cNvPr>
          <p:cNvSpPr txBox="1"/>
          <p:nvPr/>
        </p:nvSpPr>
        <p:spPr>
          <a:xfrm>
            <a:off x="3023154" y="9008225"/>
            <a:ext cx="122682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"</a:t>
            </a:r>
            <a:r>
              <a:rPr lang="ko-KR" altLang="en-US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열정으로 </a:t>
            </a:r>
            <a:r>
              <a:rPr lang="ko-KR" altLang="en-US" sz="3300" b="1" dirty="0">
                <a:solidFill>
                  <a:srgbClr val="FFC4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도전</a:t>
            </a:r>
            <a:r>
              <a:rPr lang="ko-KR" altLang="en-US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하고</a:t>
            </a:r>
            <a:r>
              <a:rPr lang="en-US" altLang="ko-KR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, </a:t>
            </a:r>
            <a:r>
              <a:rPr lang="ko-KR" altLang="en-US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창조로 </a:t>
            </a:r>
            <a:r>
              <a:rPr lang="ko-KR" altLang="en-US" sz="3300" b="1" dirty="0">
                <a:solidFill>
                  <a:srgbClr val="00B0F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혁신</a:t>
            </a:r>
            <a:r>
              <a:rPr lang="ko-KR" altLang="en-US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하며</a:t>
            </a:r>
            <a:r>
              <a:rPr lang="en-US" altLang="ko-KR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, </a:t>
            </a:r>
            <a:r>
              <a:rPr lang="ko-KR" altLang="en-US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신의로 </a:t>
            </a:r>
            <a:r>
              <a:rPr lang="ko-KR" altLang="en-US" sz="3300" b="1" dirty="0">
                <a:solidFill>
                  <a:srgbClr val="FF6600"/>
                </a:solidFill>
                <a:latin typeface="서울남산체 B" panose="02020503020101020101" pitchFamily="18" charset="-127"/>
                <a:ea typeface="서울남산체 B" panose="02020503020101020101" pitchFamily="18" charset="-127"/>
              </a:rPr>
              <a:t>함께 성장</a:t>
            </a:r>
            <a:r>
              <a:rPr lang="ko-KR" altLang="en-US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합니다</a:t>
            </a:r>
            <a:r>
              <a:rPr lang="en-US" altLang="ko-KR" sz="3300" dirty="0">
                <a:latin typeface="서울남산체 B" panose="02020503020101020101" pitchFamily="18" charset="-127"/>
                <a:ea typeface="서울남산체 B" panose="02020503020101020101" pitchFamily="18" charset="-127"/>
              </a:rPr>
              <a:t>"</a:t>
            </a:r>
            <a:endParaRPr lang="ko-KR" altLang="en-US" sz="3300" dirty="0">
              <a:latin typeface="서울남산체 B" panose="02020503020101020101" pitchFamily="18" charset="-127"/>
              <a:ea typeface="서울남산체 B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762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2087</TotalTime>
  <Words>979</Words>
  <Application>Microsoft Office PowerPoint</Application>
  <PresentationFormat>사용자 지정</PresentationFormat>
  <Paragraphs>183</Paragraphs>
  <Slides>10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서울남산 장체 BL</vt:lpstr>
      <vt:lpstr>서울남산체 B</vt:lpstr>
      <vt:lpstr>Calibri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삼선엔지니어링 PC1</dc:creator>
  <cp:lastModifiedBy>홍진</cp:lastModifiedBy>
  <cp:revision>90</cp:revision>
  <cp:lastPrinted>2026-03-30T02:37:54Z</cp:lastPrinted>
  <dcterms:created xsi:type="dcterms:W3CDTF">2006-08-16T00:00:00Z</dcterms:created>
  <dcterms:modified xsi:type="dcterms:W3CDTF">2026-03-30T02:41:44Z</dcterms:modified>
</cp:coreProperties>
</file>